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56" r:id="rId2"/>
    <p:sldId id="286" r:id="rId3"/>
    <p:sldId id="257" r:id="rId4"/>
    <p:sldId id="258" r:id="rId5"/>
    <p:sldId id="283" r:id="rId6"/>
    <p:sldId id="284" r:id="rId7"/>
    <p:sldId id="263" r:id="rId8"/>
    <p:sldId id="276" r:id="rId9"/>
    <p:sldId id="277" r:id="rId10"/>
    <p:sldId id="275" r:id="rId11"/>
    <p:sldId id="270" r:id="rId12"/>
    <p:sldId id="262" r:id="rId13"/>
    <p:sldId id="278" r:id="rId14"/>
    <p:sldId id="272" r:id="rId15"/>
    <p:sldId id="273" r:id="rId16"/>
    <p:sldId id="274" r:id="rId17"/>
    <p:sldId id="269" r:id="rId18"/>
    <p:sldId id="282" r:id="rId19"/>
    <p:sldId id="265" r:id="rId20"/>
    <p:sldId id="268" r:id="rId21"/>
    <p:sldId id="266" r:id="rId22"/>
    <p:sldId id="264" r:id="rId23"/>
    <p:sldId id="259" r:id="rId24"/>
    <p:sldId id="267" r:id="rId25"/>
    <p:sldId id="285" r:id="rId26"/>
    <p:sldId id="280" r:id="rId27"/>
    <p:sldId id="279" r:id="rId28"/>
    <p:sldId id="281" r:id="rId29"/>
    <p:sldId id="261" r:id="rId30"/>
    <p:sldId id="289" r:id="rId31"/>
    <p:sldId id="292" r:id="rId32"/>
    <p:sldId id="294" r:id="rId33"/>
    <p:sldId id="293" r:id="rId34"/>
    <p:sldId id="290" r:id="rId35"/>
    <p:sldId id="291" r:id="rId36"/>
    <p:sldId id="288" r:id="rId37"/>
    <p:sldId id="287" r:id="rId38"/>
    <p:sldId id="260" r:id="rId39"/>
    <p:sldId id="271" r:id="rId40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755159-AB4D-FBBC-B652-7F22A1403D08}" name="ashutosh satapathy" initials="as" userId="d35908ac1f75030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69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1B727E3-9991-4B0C-8167-23E35F3043C3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78B3C13F-8C70-4967-B114-F8782C3B91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1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3A6F-B049-4A3C-A314-6C5DC6ABA41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8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A0579-E4EA-4069-8E9E-A5661942CE8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4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C4A0-A0AB-494A-9349-6940CE23F0BB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4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9F13F-E3C0-47E7-81E7-2D67CDFD97C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3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4F48-C21C-4E8E-AA43-BB8E3BD2F306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0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0D7BC-B940-4993-A11F-8FBB77BA204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7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4854-92A4-4BB6-9F1F-69BBC71788FF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6CBDC-D391-4FA9-8D6F-9BC119CA0B97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0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F212E-DE5B-4D49-B277-6F5AF26D6AF0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5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1400-0AF8-4881-9500-1BCE077EF02C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0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0AC9-8025-43C3-9D7A-B30453D05E68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15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C9A0F-356B-4543-BBC4-6729314C25D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2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ribbr.com/research-process/research-question-example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tutorialspoint.com/sdlc/index.ht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lucidchart.com/pages/uml-use-case-diagra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CK6prSq8aw" TargetMode="External"/><Relationship Id="rId2" Type="http://schemas.openxmlformats.org/officeDocument/2006/relationships/hyperlink" Target="https://www.lucidchart.com/pages/uml-sequence-diagra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cidchart.com/pages/uml-activity-diagram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_tCedK0CfMk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DwpAyzJrVQ" TargetMode="External"/><Relationship Id="rId2" Type="http://schemas.openxmlformats.org/officeDocument/2006/relationships/hyperlink" Target="https://www.youtube.com/watch?v=D6R7njeK-q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functional-vs-non-functional-requirements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onlinelibrary.wiley.com/doi/pdf/10.1002/0470029757.app1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ashishpatel26/Tools-to-Design-or-Visualize-Architecture-of-Neural-Network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onlinelibrary.wiley.com/doi/pdf/10.1002/0470029757.app1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scribbr.com/citation/generator/apa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46DB-D9D6-99F1-B8FD-FBA99021C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57484"/>
            <a:ext cx="7772400" cy="884259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Calisto MT" panose="02040603050505030304" pitchFamily="18" charset="0"/>
                <a:cs typeface="JasmineUPC" panose="02020603050405020304" pitchFamily="18" charset="-34"/>
              </a:rPr>
              <a:t>Title of the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D8221-192B-76DF-DF92-A9F15F837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24" y="4516258"/>
            <a:ext cx="3675512" cy="1973635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10000"/>
              </a:lnSpc>
            </a:pPr>
            <a:r>
              <a:rPr lang="en-US" sz="5000" b="1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Batch Members</a:t>
            </a:r>
          </a:p>
          <a:p>
            <a:pPr>
              <a:lnSpc>
                <a:spcPct val="110000"/>
              </a:lnSpc>
            </a:pPr>
            <a:r>
              <a:rPr lang="en-US" sz="4800" b="1" dirty="0">
                <a:latin typeface="Calisto MT" panose="02040603050505030304" pitchFamily="18" charset="0"/>
              </a:rPr>
              <a:t>Student 1 Name (Reg. No. 1)</a:t>
            </a:r>
          </a:p>
          <a:p>
            <a:pPr>
              <a:lnSpc>
                <a:spcPct val="110000"/>
              </a:lnSpc>
            </a:pPr>
            <a:r>
              <a:rPr lang="en-US" sz="4800" b="1" dirty="0">
                <a:latin typeface="Calisto MT" panose="02040603050505030304" pitchFamily="18" charset="0"/>
              </a:rPr>
              <a:t>Student 2 Name (Reg. No. 2)</a:t>
            </a:r>
          </a:p>
          <a:p>
            <a:pPr>
              <a:lnSpc>
                <a:spcPct val="110000"/>
              </a:lnSpc>
            </a:pPr>
            <a:r>
              <a:rPr lang="en-US" sz="4800" b="1" dirty="0">
                <a:latin typeface="Calisto MT" panose="02040603050505030304" pitchFamily="18" charset="0"/>
              </a:rPr>
              <a:t>Student 3 Name (Reg. No. 3)</a:t>
            </a:r>
          </a:p>
          <a:p>
            <a:pPr>
              <a:lnSpc>
                <a:spcPct val="110000"/>
              </a:lnSpc>
            </a:pPr>
            <a:r>
              <a:rPr lang="en-US" sz="4800" b="1" dirty="0">
                <a:latin typeface="Calisto MT" panose="02040603050505030304" pitchFamily="18" charset="0"/>
              </a:rPr>
              <a:t>Student 4 Name (Reg. No. 4)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E82CFBC-36EF-B095-71E8-4AA9D64C0EFE}"/>
              </a:ext>
            </a:extLst>
          </p:cNvPr>
          <p:cNvSpPr txBox="1">
            <a:spLocks/>
          </p:cNvSpPr>
          <p:nvPr/>
        </p:nvSpPr>
        <p:spPr>
          <a:xfrm>
            <a:off x="4794945" y="4516258"/>
            <a:ext cx="4178431" cy="2220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Under the Guidance of</a:t>
            </a:r>
          </a:p>
          <a:p>
            <a:r>
              <a:rPr lang="en-US" sz="1900" b="1" dirty="0">
                <a:latin typeface="Calisto MT" panose="02040603050505030304" pitchFamily="18" charset="0"/>
              </a:rPr>
              <a:t>Dr./Mr./Mrs. Name of the Faculty</a:t>
            </a:r>
          </a:p>
          <a:p>
            <a:r>
              <a:rPr lang="en-US" sz="1900" b="1" dirty="0">
                <a:latin typeface="Calisto MT" panose="02040603050505030304" pitchFamily="18" charset="0"/>
              </a:rPr>
              <a:t>Designation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D2FCE7-A20E-157E-20FA-2B09A5121833}"/>
              </a:ext>
            </a:extLst>
          </p:cNvPr>
          <p:cNvSpPr txBox="1">
            <a:spLocks/>
          </p:cNvSpPr>
          <p:nvPr/>
        </p:nvSpPr>
        <p:spPr>
          <a:xfrm>
            <a:off x="685800" y="3293700"/>
            <a:ext cx="7772400" cy="7912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Calisto MT" panose="02040603050505030304" pitchFamily="18" charset="0"/>
                <a:cs typeface="JasmineUPC" panose="02020603050405020304" pitchFamily="18" charset="-34"/>
              </a:rPr>
              <a:t>23CS7552: B. Tech Mini Project (0</a:t>
            </a:r>
            <a:r>
              <a:rPr lang="en-US" sz="2000" b="1" baseline="30000" dirty="0">
                <a:solidFill>
                  <a:schemeClr val="tx2">
                    <a:lumMod val="50000"/>
                  </a:schemeClr>
                </a:solidFill>
                <a:latin typeface="Calisto MT" panose="02040603050505030304" pitchFamily="18" charset="0"/>
                <a:cs typeface="JasmineUPC" panose="02020603050405020304" pitchFamily="18" charset="-34"/>
              </a:rPr>
              <a:t>th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Calisto MT" panose="02040603050505030304" pitchFamily="18" charset="0"/>
                <a:cs typeface="JasmineUPC" panose="02020603050405020304" pitchFamily="18" charset="-34"/>
              </a:rPr>
              <a:t>/1</a:t>
            </a:r>
            <a:r>
              <a:rPr lang="en-US" sz="2000" b="1" baseline="30000" dirty="0">
                <a:solidFill>
                  <a:schemeClr val="tx2">
                    <a:lumMod val="50000"/>
                  </a:schemeClr>
                </a:solidFill>
                <a:latin typeface="Calisto MT" panose="02040603050505030304" pitchFamily="18" charset="0"/>
                <a:cs typeface="JasmineUPC" panose="02020603050405020304" pitchFamily="18" charset="-34"/>
              </a:rPr>
              <a:t>st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Calisto MT" panose="02040603050505030304" pitchFamily="18" charset="0"/>
                <a:cs typeface="JasmineUPC" panose="02020603050405020304" pitchFamily="18" charset="-34"/>
              </a:rPr>
              <a:t>/2</a:t>
            </a:r>
            <a:r>
              <a:rPr lang="en-US" sz="2000" b="1" baseline="30000" dirty="0">
                <a:solidFill>
                  <a:schemeClr val="tx2">
                    <a:lumMod val="50000"/>
                  </a:schemeClr>
                </a:solidFill>
                <a:latin typeface="Calisto MT" panose="02040603050505030304" pitchFamily="18" charset="0"/>
                <a:cs typeface="JasmineUPC" panose="02020603050405020304" pitchFamily="18" charset="-34"/>
              </a:rPr>
              <a:t>nd</a:t>
            </a: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Calisto MT" panose="02040603050505030304" pitchFamily="18" charset="0"/>
                <a:cs typeface="JasmineUPC" panose="02020603050405020304" pitchFamily="18" charset="-34"/>
              </a:rPr>
              <a:t>/End Sem. Review)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Calisto MT" panose="02040603050505030304" pitchFamily="18" charset="0"/>
                <a:cs typeface="JasmineUPC" panose="02020603050405020304" pitchFamily="18" charset="-34"/>
              </a:rPr>
              <a:t>Month DD, YYYY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Calisto MT" panose="02040603050505030304" pitchFamily="18" charset="0"/>
                <a:cs typeface="JasmineUPC" panose="02020603050405020304" pitchFamily="18" charset="-34"/>
              </a:rPr>
              <a:t>Batch No: __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E7157D-0ED4-652A-8A59-DCC1031DA9E7}"/>
              </a:ext>
            </a:extLst>
          </p:cNvPr>
          <p:cNvSpPr txBox="1">
            <a:spLocks/>
          </p:cNvSpPr>
          <p:nvPr/>
        </p:nvSpPr>
        <p:spPr>
          <a:xfrm>
            <a:off x="906670" y="60484"/>
            <a:ext cx="7126664" cy="11259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VR SIDDHARTHA ENGINEERING COLLEGE, VIJAYAWADA</a:t>
            </a:r>
          </a:p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Department of Computer Science and Engineering</a:t>
            </a:r>
          </a:p>
        </p:txBody>
      </p:sp>
      <p:pic>
        <p:nvPicPr>
          <p:cNvPr id="11" name="Picture 10" descr="A picture containing diagram&#10;&#10;Description automatically generated">
            <a:extLst>
              <a:ext uri="{FF2B5EF4-FFF2-40B4-BE49-F238E27FC236}">
                <a16:creationId xmlns:a16="http://schemas.microsoft.com/office/drawing/2014/main" id="{2F0778DE-E80B-339F-BA7E-B056A9251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78" y="161404"/>
            <a:ext cx="950349" cy="1118057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1D9962D5-2778-4C7F-FC4C-2CB25B317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301" y="153465"/>
            <a:ext cx="1118057" cy="1118057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680849-8AC5-7306-7F26-02AD56BF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37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CEF80-4CA1-DB72-3A74-1A417DF7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57A5-078B-FA15-DD91-6DF0486D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52" y="63468"/>
            <a:ext cx="7886700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Review Details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D5F71-175A-262B-EAE7-5B2FF485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8D195FF-8CB3-3FF6-7F0D-2648EA6F35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5352" y="584461"/>
                <a:ext cx="8043323" cy="6579909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dirty="0">
                    <a:solidFill>
                      <a:srgbClr val="C00000"/>
                    </a:solidFill>
                    <a:latin typeface="Calisto MT" panose="02040603050505030304" pitchFamily="18" charset="0"/>
                  </a:rPr>
                  <a:t>Review 0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i="1" dirty="0">
                    <a:solidFill>
                      <a:schemeClr val="tx1"/>
                    </a:solidFill>
                    <a:latin typeface="Calisto MT" panose="02040603050505030304" pitchFamily="18" charset="0"/>
                  </a:rPr>
                  <a:t>Eligibility: </a:t>
                </a:r>
                <a14:m>
                  <m:oMath xmlns:m="http://schemas.openxmlformats.org/officeDocument/2006/math">
                    <m:r>
                      <a:rPr lang="en-US" sz="31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3100" b="1" i="1" dirty="0">
                    <a:solidFill>
                      <a:schemeClr val="tx1"/>
                    </a:solidFill>
                    <a:latin typeface="Calisto MT" panose="02040603050505030304" pitchFamily="18" charset="0"/>
                  </a:rPr>
                  <a:t> 85% Attendance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i="1" dirty="0">
                    <a:latin typeface="Calisto MT" panose="02040603050505030304" pitchFamily="18" charset="0"/>
                  </a:rPr>
                  <a:t>Pt. 1- 8 and References, Refer slide 4.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i="1" dirty="0">
                    <a:latin typeface="Calisto MT" panose="02040603050505030304" pitchFamily="18" charset="0"/>
                  </a:rPr>
                  <a:t>(No Marks for Review 0) 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i="1" dirty="0">
                    <a:solidFill>
                      <a:srgbClr val="002060"/>
                    </a:solidFill>
                    <a:latin typeface="Calisto MT" panose="02040603050505030304" pitchFamily="18" charset="0"/>
                  </a:rPr>
                  <a:t>1. Accepted, 2. Accepted with Minor Revision, 3. Rejected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sz="1600" b="1" i="1" dirty="0">
                  <a:latin typeface="Calisto MT" panose="0204060305050503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dirty="0">
                    <a:solidFill>
                      <a:srgbClr val="C00000"/>
                    </a:solidFill>
                    <a:latin typeface="Calisto MT" panose="02040603050505030304" pitchFamily="18" charset="0"/>
                  </a:rPr>
                  <a:t>Review 1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i="1" dirty="0">
                    <a:latin typeface="Calisto MT" panose="02040603050505030304" pitchFamily="18" charset="0"/>
                  </a:rPr>
                  <a:t>Eligibility: </a:t>
                </a:r>
                <a14:m>
                  <m:oMath xmlns:m="http://schemas.openxmlformats.org/officeDocument/2006/math">
                    <m:r>
                      <a:rPr lang="en-US" sz="31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3100" b="1" i="1" dirty="0">
                    <a:latin typeface="Calisto MT" panose="02040603050505030304" pitchFamily="18" charset="0"/>
                  </a:rPr>
                  <a:t> 85% Attendance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i="1" dirty="0">
                    <a:latin typeface="Calisto MT" panose="02040603050505030304" pitchFamily="18" charset="0"/>
                  </a:rPr>
                  <a:t>Pt. 1 – 17 and References, Refer slide 4.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i="1" dirty="0">
                    <a:solidFill>
                      <a:srgbClr val="002060"/>
                    </a:solidFill>
                    <a:latin typeface="Calisto MT" panose="02040603050505030304" pitchFamily="18" charset="0"/>
                  </a:rPr>
                  <a:t>(10 Marks for pt. 9 – 17 and EPICS outcome)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sz="2200" b="1" i="1" dirty="0">
                  <a:latin typeface="Calisto MT" panose="0204060305050503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dirty="0">
                    <a:solidFill>
                      <a:srgbClr val="C00000"/>
                    </a:solidFill>
                    <a:latin typeface="Calisto MT" panose="02040603050505030304" pitchFamily="18" charset="0"/>
                  </a:rPr>
                  <a:t>Review 2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i="1" dirty="0">
                    <a:latin typeface="Calisto MT" panose="02040603050505030304" pitchFamily="18" charset="0"/>
                  </a:rPr>
                  <a:t>Eligibility: </a:t>
                </a:r>
                <a14:m>
                  <m:oMath xmlns:m="http://schemas.openxmlformats.org/officeDocument/2006/math">
                    <m:r>
                      <a:rPr lang="en-US" sz="31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3100" b="1" i="1" dirty="0">
                    <a:latin typeface="Calisto MT" panose="02040603050505030304" pitchFamily="18" charset="0"/>
                  </a:rPr>
                  <a:t> 85% Attendance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i="1" dirty="0">
                    <a:latin typeface="Calisto MT" panose="02040603050505030304" pitchFamily="18" charset="0"/>
                  </a:rPr>
                  <a:t>Pt. 1- 20 and References, Refer slide 4.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100" b="1" i="1" dirty="0">
                    <a:solidFill>
                      <a:srgbClr val="002060"/>
                    </a:solidFill>
                    <a:latin typeface="Calisto MT" panose="02040603050505030304" pitchFamily="18" charset="0"/>
                  </a:rPr>
                  <a:t>(10 Marks for pt. 18 – 20 and EPICS outcome)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1400" b="1" dirty="0">
                  <a:latin typeface="Calisto MT" panose="0204060305050503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900" b="1" i="1" dirty="0">
                    <a:solidFill>
                      <a:srgbClr val="7030A0"/>
                    </a:solidFill>
                    <a:latin typeface="Calisto MT" panose="02040603050505030304" pitchFamily="18" charset="0"/>
                  </a:rPr>
                  <a:t>Don’t include this slide in your presentation.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100" b="1" i="1" dirty="0">
                    <a:solidFill>
                      <a:schemeClr val="accent6">
                        <a:lumMod val="50000"/>
                      </a:schemeClr>
                    </a:solidFill>
                    <a:latin typeface="Calisto MT" panose="02040603050505030304" pitchFamily="18" charset="0"/>
                  </a:rPr>
                  <a:t>Note: Day-to-Day evaluation (10M) will be allotted based on your Attendance, Observation Book status with guide sign (2 times in a week minimum) and Guide Feedback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8D195FF-8CB3-3FF6-7F0D-2648EA6F35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5352" y="584461"/>
                <a:ext cx="8043323" cy="6579909"/>
              </a:xfrm>
              <a:blipFill>
                <a:blip r:embed="rId2"/>
                <a:stretch>
                  <a:fillRect l="-455" t="-1112" r="-1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86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4298"/>
            <a:ext cx="7886700" cy="709530"/>
          </a:xfrm>
        </p:spPr>
        <p:txBody>
          <a:bodyPr/>
          <a:lstStyle/>
          <a:p>
            <a:r>
              <a:rPr lang="en-US" sz="36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Abstract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46376"/>
            <a:ext cx="8062863" cy="5253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effectLst/>
                <a:latin typeface="Calisto MT" panose="02040603050505030304" pitchFamily="18" charset="0"/>
              </a:rPr>
              <a:t>Write the abstract between 150 and 250 words. Do not italicize your text.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It must be a paragraph that emphasizes your work/ contribution.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effectLst/>
                <a:latin typeface="Calisto MT" panose="02040603050505030304" pitchFamily="18" charset="0"/>
              </a:rPr>
              <a:t>Highlight important words in the abstract, which will help you during your presentation.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effectLst/>
                <a:latin typeface="Calisto MT" panose="02040603050505030304" pitchFamily="18" charset="0"/>
              </a:rPr>
              <a:t>Flow must be maintained in the abstract.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Keywords: 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effectLst/>
                <a:latin typeface="Calisto MT" panose="02040603050505030304" pitchFamily="18" charset="0"/>
              </a:rPr>
              <a:t>A minimum of five to a maximum of eight keywords separated by commas or semicolons.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i="0" dirty="0">
                <a:effectLst/>
                <a:latin typeface="Calisto MT" panose="02040603050505030304" pitchFamily="18" charset="0"/>
              </a:rPr>
              <a:t>Keywords are words that capture the essence of your project work.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Do not Italicize your text.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200" b="1" dirty="0">
              <a:latin typeface="Calisto MT" panose="0204060305050503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089C-7D4B-76D0-EDD6-D1FEEE85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68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52" y="120030"/>
            <a:ext cx="7886700" cy="549273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Presentation Outline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2" y="687062"/>
            <a:ext cx="8634953" cy="5851851"/>
          </a:xfrm>
        </p:spPr>
        <p:txBody>
          <a:bodyPr numCol="2">
            <a:normAutofit fontScale="25000" lnSpcReduction="20000"/>
          </a:bodyPr>
          <a:lstStyle/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Research Domain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IN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SDG Categories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Aim and Motivation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Research Questions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Title Justification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Objectives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Scope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Timeline Chart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Introduction	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9.1. Basic Concepts </a:t>
            </a:r>
            <a:r>
              <a:rPr lang="en-US" sz="5600" b="1" i="1" dirty="0">
                <a:solidFill>
                  <a:srgbClr val="002060"/>
                </a:solidFill>
                <a:latin typeface="Calisto MT" panose="02040603050505030304" pitchFamily="18" charset="0"/>
              </a:rPr>
              <a:t>(If any)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9.2. Basic Concepts </a:t>
            </a:r>
            <a:r>
              <a:rPr lang="en-US" sz="5600" b="1" i="1" dirty="0">
                <a:solidFill>
                  <a:srgbClr val="002060"/>
                </a:solidFill>
                <a:latin typeface="Calisto MT" panose="02040603050505030304" pitchFamily="18" charset="0"/>
              </a:rPr>
              <a:t>(If any)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Study on Existing Technologies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Gap Analysis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SDLC Model </a:t>
            </a:r>
            <a:r>
              <a:rPr lang="en-US" sz="5600" b="1" i="1" dirty="0">
                <a:solidFill>
                  <a:srgbClr val="002060"/>
                </a:solidFill>
                <a:latin typeface="Calisto MT" panose="02040603050505030304" pitchFamily="18" charset="0"/>
              </a:rPr>
              <a:t>(If Required, Not Mandatory for All Kinds of Projects)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UML Diagrams </a:t>
            </a:r>
            <a:r>
              <a:rPr lang="en-US" sz="5600" b="1" i="1" dirty="0">
                <a:solidFill>
                  <a:srgbClr val="002060"/>
                </a:solidFill>
                <a:latin typeface="Calisto MT" panose="02040603050505030304" pitchFamily="18" charset="0"/>
              </a:rPr>
              <a:t>(If Required, Not Mandatory for All Kinds of Projects)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13.1. Use Case Diagram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13.2. Sequence Diagram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sz="5600" b="1" dirty="0">
              <a:solidFill>
                <a:srgbClr val="002060"/>
              </a:solidFill>
              <a:latin typeface="Calisto MT" panose="02040603050505030304" pitchFamily="18" charset="0"/>
            </a:endParaRPr>
          </a:p>
          <a:p>
            <a:pPr marL="180975" indent="0">
              <a:lnSpc>
                <a:spcPct val="120000"/>
              </a:lnSpc>
              <a:buNone/>
            </a:pPr>
            <a:endParaRPr lang="en-US" sz="5600" b="1" dirty="0">
              <a:solidFill>
                <a:srgbClr val="002060"/>
              </a:solidFill>
              <a:latin typeface="Calisto MT" panose="02040603050505030304" pitchFamily="18" charset="0"/>
            </a:endParaRPr>
          </a:p>
          <a:p>
            <a:pPr marL="361950" indent="0">
              <a:lnSpc>
                <a:spcPct val="120000"/>
              </a:lnSpc>
              <a:buNone/>
            </a:pPr>
            <a:endParaRPr lang="en-US" sz="5600" b="1" dirty="0">
              <a:solidFill>
                <a:srgbClr val="002060"/>
              </a:solidFill>
              <a:latin typeface="Calisto MT" panose="02040603050505030304" pitchFamily="18" charset="0"/>
            </a:endParaRPr>
          </a:p>
          <a:p>
            <a:pPr marL="361950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13.3. Activity Diagram</a:t>
            </a:r>
          </a:p>
          <a:p>
            <a:pPr marL="361950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13.3. Activity Diagram</a:t>
            </a:r>
          </a:p>
          <a:p>
            <a:pPr marL="361950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13.4. OR Any Other Diagrams</a:t>
            </a: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14. Functional and Non-Functional   Requirements </a:t>
            </a:r>
            <a:r>
              <a:rPr lang="en-US" sz="5600" b="1" i="1" dirty="0">
                <a:solidFill>
                  <a:srgbClr val="002060"/>
                </a:solidFill>
                <a:latin typeface="Calisto MT" panose="02040603050505030304" pitchFamily="18" charset="0"/>
              </a:rPr>
              <a:t>(If Required, Not Mandatory for All Kinds of Projects)</a:t>
            </a:r>
            <a:endParaRPr lang="en-US" sz="5600" b="1" dirty="0">
              <a:solidFill>
                <a:srgbClr val="002060"/>
              </a:solidFill>
              <a:latin typeface="Calisto MT" panose="02040603050505030304" pitchFamily="18" charset="0"/>
            </a:endParaRP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15. Data Collection </a:t>
            </a:r>
            <a:r>
              <a:rPr lang="en-US" sz="5600" b="1" i="1" dirty="0">
                <a:solidFill>
                  <a:srgbClr val="002060"/>
                </a:solidFill>
                <a:latin typeface="Calisto MT" panose="02040603050505030304" pitchFamily="18" charset="0"/>
              </a:rPr>
              <a:t>(If any)</a:t>
            </a: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16. Data Preparation </a:t>
            </a:r>
            <a:r>
              <a:rPr lang="en-US" sz="5600" b="1" i="1" dirty="0">
                <a:solidFill>
                  <a:srgbClr val="002060"/>
                </a:solidFill>
                <a:latin typeface="Calisto MT" panose="02040603050505030304" pitchFamily="18" charset="0"/>
              </a:rPr>
              <a:t>(If any)</a:t>
            </a:r>
            <a:endParaRPr lang="en-US" sz="5600" b="1" dirty="0">
              <a:solidFill>
                <a:srgbClr val="002060"/>
              </a:solidFill>
              <a:latin typeface="Calisto MT" panose="02040603050505030304" pitchFamily="18" charset="0"/>
            </a:endParaRP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17. Proposed Methodology</a:t>
            </a: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       17.1. Proposed System Architecture </a:t>
            </a: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       17.2. Different Modules</a:t>
            </a: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       17.3 Algorithms, Model or Framework</a:t>
            </a: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18. Results and Discussion</a:t>
            </a:r>
          </a:p>
          <a:p>
            <a:pPr marL="54292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18.1. Experimental Setup</a:t>
            </a:r>
          </a:p>
          <a:p>
            <a:pPr marL="54292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18.2. Results and Analysis</a:t>
            </a:r>
          </a:p>
          <a:p>
            <a:pPr marL="54292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18.3. Comparison with Previous Work</a:t>
            </a:r>
          </a:p>
          <a:p>
            <a:pPr marL="54292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18.4. Proof of Concept (</a:t>
            </a:r>
            <a:r>
              <a:rPr lang="en-US" sz="5600" b="1" i="1" dirty="0">
                <a:solidFill>
                  <a:srgbClr val="002060"/>
                </a:solidFill>
                <a:latin typeface="Calisto MT" panose="02040603050505030304" pitchFamily="18" charset="0"/>
              </a:rPr>
              <a:t>If Any…</a:t>
            </a: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)</a:t>
            </a: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19. Project Outcomes</a:t>
            </a: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20. Conclusion &amp; Future Work</a:t>
            </a:r>
          </a:p>
          <a:p>
            <a:pPr marL="180975" indent="0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002060"/>
                </a:solidFill>
                <a:latin typeface="Calisto MT" panose="02040603050505030304" pitchFamily="18" charset="0"/>
              </a:rPr>
              <a:t>References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2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2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200" b="1" dirty="0">
              <a:latin typeface="Calisto MT" panose="0204060305050503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3DE6-22F4-4655-E43D-E5183840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59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E336-ABF5-A846-DE08-38640CE5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0ACF-C0A4-F059-E3E6-80EBC550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1. Research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4AD35-D206-4743-0207-C6CD2E794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43" y="772015"/>
            <a:ext cx="8314441" cy="5870705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b="1" u="sng" dirty="0">
                <a:solidFill>
                  <a:srgbClr val="252525"/>
                </a:solidFill>
                <a:latin typeface="Calisto MT" panose="02040603050505030304" pitchFamily="18" charset="0"/>
              </a:rPr>
              <a:t>Research Domain </a:t>
            </a:r>
            <a:r>
              <a:rPr lang="en-IN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refers to the broad area of study in which the proposed project is situated.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Select a domain that is relevant to the project title, objectives, and proposed methodology.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Clearly mention the primary research domain and, if applicable, the interdisciplinary/sub-domain.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Choose the domain based on the technical focus, application area, and expected outcomes of the project.</a:t>
            </a:r>
          </a:p>
          <a:p>
            <a:pPr marL="0" lvl="0" indent="0" algn="just">
              <a:buNone/>
            </a:pPr>
            <a:endParaRPr lang="en-IN" sz="1100" b="1" dirty="0">
              <a:solidFill>
                <a:srgbClr val="252525"/>
              </a:solidFill>
              <a:latin typeface="Calisto MT" panose="02040603050505030304" pitchFamily="18" charset="0"/>
            </a:endParaRPr>
          </a:p>
          <a:p>
            <a:pPr marL="0" lvl="0" indent="0" algn="just">
              <a:buNone/>
            </a:pPr>
            <a:r>
              <a:rPr lang="en-IN" sz="2400" b="1" i="1" dirty="0">
                <a:solidFill>
                  <a:schemeClr val="accent2">
                    <a:lumMod val="75000"/>
                  </a:schemeClr>
                </a:solidFill>
                <a:latin typeface="Calisto MT" panose="02040603050505030304" pitchFamily="18" charset="0"/>
              </a:rPr>
              <a:t>Example:</a:t>
            </a:r>
          </a:p>
          <a:p>
            <a:pPr marL="0" lvl="0" indent="0" algn="just">
              <a:buNone/>
            </a:pPr>
            <a:endParaRPr lang="en-IN" sz="1050" b="1" dirty="0">
              <a:solidFill>
                <a:srgbClr val="252525"/>
              </a:solidFill>
              <a:latin typeface="Calisto MT" panose="02040603050505030304" pitchFamily="18" charset="0"/>
            </a:endParaRPr>
          </a:p>
          <a:p>
            <a:pPr lvl="0"/>
            <a:r>
              <a:rPr lang="en-IN" sz="2000" b="1" dirty="0">
                <a:latin typeface="Calisto MT" panose="02040603050505030304" pitchFamily="18" charset="0"/>
              </a:rPr>
              <a:t>Primary Domain:</a:t>
            </a:r>
            <a:r>
              <a:rPr lang="en-IN" sz="2000" dirty="0">
                <a:latin typeface="Calisto MT" panose="02040603050505030304" pitchFamily="18" charset="0"/>
              </a:rPr>
              <a:t> Artificial Intelligence and Machine Learning </a:t>
            </a:r>
          </a:p>
          <a:p>
            <a:pPr lvl="0"/>
            <a:r>
              <a:rPr lang="en-IN" sz="2000" b="1" dirty="0">
                <a:latin typeface="Calisto MT" panose="02040603050505030304" pitchFamily="18" charset="0"/>
              </a:rPr>
              <a:t>Sub-Domain:</a:t>
            </a:r>
            <a:r>
              <a:rPr lang="en-IN" sz="2000" dirty="0">
                <a:latin typeface="Calisto MT" panose="02040603050505030304" pitchFamily="18" charset="0"/>
              </a:rPr>
              <a:t> Computer Vision and Deep Learning </a:t>
            </a:r>
          </a:p>
          <a:p>
            <a:pPr lvl="0"/>
            <a:r>
              <a:rPr lang="en-IN" sz="2000" b="1" dirty="0">
                <a:latin typeface="Calisto MT" panose="02040603050505030304" pitchFamily="18" charset="0"/>
              </a:rPr>
              <a:t>Application Area:</a:t>
            </a:r>
            <a:r>
              <a:rPr lang="en-IN" sz="2000" dirty="0">
                <a:latin typeface="Calisto MT" panose="02040603050505030304" pitchFamily="18" charset="0"/>
              </a:rPr>
              <a:t> Intelligent Transportation Systems and Road Safety</a:t>
            </a:r>
          </a:p>
          <a:p>
            <a:pPr marL="0" lvl="0" indent="0" algn="just">
              <a:buNone/>
            </a:pPr>
            <a:endParaRPr lang="en-IN" sz="2000" b="1" dirty="0">
              <a:solidFill>
                <a:srgbClr val="252525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CD8A0-D22F-28CB-6DA4-2B5A203C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47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0B8B0-6FA6-1A9D-CBD0-94855C5A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B460-8C98-C0EC-7B6F-08A2E00D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2. SDG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BAAF-ACF3-ADF2-52AE-805365274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u="sng" dirty="0">
                <a:latin typeface="Calisto MT" panose="02040603050505030304" pitchFamily="18" charset="0"/>
              </a:rPr>
              <a:t>Select the SDG(s) </a:t>
            </a:r>
            <a:r>
              <a:rPr lang="en-IN" sz="2000" b="1" dirty="0">
                <a:latin typeface="Calisto MT" panose="02040603050505030304" pitchFamily="18" charset="0"/>
              </a:rPr>
              <a:t>directly aligned with the project objectives and outcomes.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Mention the SDG number and official title.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Select only relevant and justifiable SDGs based on the project’s impact.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B90BE-2D81-5E43-3A1E-442D1D8B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F15D0-BE51-3FBD-56FD-F97A2B912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3119552"/>
            <a:ext cx="5895975" cy="360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9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3. Aim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u="sng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Aim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 is a statement of intent. This is usually written in broad terms. It lays out what you hope to achieve at the end of the project.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u="sng" dirty="0">
                <a:solidFill>
                  <a:srgbClr val="202124"/>
                </a:solidFill>
                <a:effectLst/>
                <a:latin typeface="Calisto MT" panose="02040603050505030304" pitchFamily="18" charset="0"/>
              </a:rPr>
              <a:t>Motivation</a:t>
            </a:r>
            <a:r>
              <a:rPr lang="en-US" sz="2000" b="1" i="0" dirty="0">
                <a:solidFill>
                  <a:srgbClr val="202124"/>
                </a:solidFill>
                <a:effectLst/>
                <a:latin typeface="Calisto MT" panose="02040603050505030304" pitchFamily="18" charset="0"/>
              </a:rPr>
              <a:t> behind </a:t>
            </a:r>
            <a:r>
              <a:rPr lang="en-US" sz="2000" b="1" dirty="0">
                <a:solidFill>
                  <a:srgbClr val="202124"/>
                </a:solidFill>
                <a:latin typeface="Calisto MT" panose="02040603050505030304" pitchFamily="18" charset="0"/>
              </a:rPr>
              <a:t>a project </a:t>
            </a:r>
            <a:r>
              <a:rPr lang="en-US" sz="2000" b="1" i="0" dirty="0">
                <a:solidFill>
                  <a:srgbClr val="202124"/>
                </a:solidFill>
                <a:effectLst/>
                <a:latin typeface="Calisto MT" panose="02040603050505030304" pitchFamily="18" charset="0"/>
              </a:rPr>
              <a:t>can </a:t>
            </a:r>
            <a:r>
              <a:rPr lang="en-US" sz="2000" b="1" i="0" dirty="0">
                <a:solidFill>
                  <a:srgbClr val="040C28"/>
                </a:solidFill>
                <a:effectLst/>
                <a:latin typeface="Calisto MT" panose="02040603050505030304" pitchFamily="18" charset="0"/>
              </a:rPr>
              <a:t>inspire, encourage, and stimulate individuals and project teams to achieve great accomplishments</a:t>
            </a:r>
            <a:r>
              <a:rPr lang="en-US" sz="2000" b="1" i="0" dirty="0">
                <a:solidFill>
                  <a:srgbClr val="202124"/>
                </a:solidFill>
                <a:effectLst/>
                <a:latin typeface="Calisto MT" panose="02040603050505030304" pitchFamily="18" charset="0"/>
              </a:rPr>
              <a:t>.</a:t>
            </a:r>
            <a:endParaRPr lang="en-US" sz="2000" b="1" dirty="0">
              <a:solidFill>
                <a:srgbClr val="252525"/>
              </a:solidFill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Highlight the major words in the aim and motivation paragraphs. It must be your own words.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You can use bullet points or a numbered list to write aim and motivation behind this project.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Do not write more than 90 words. Do not Italicize your text.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63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71961"/>
            <a:ext cx="8738648" cy="634115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4.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631596"/>
            <a:ext cx="8578391" cy="6106375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i="0" dirty="0">
                <a:solidFill>
                  <a:srgbClr val="202122"/>
                </a:solidFill>
                <a:effectLst/>
                <a:latin typeface="Calisto MT" panose="02040603050505030304" pitchFamily="18" charset="0"/>
              </a:rPr>
              <a:t>A research question is a question that a research project sets out to answer. Good research questions seek to improve knowledge on an important topic and are usually narrow and specific.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i="0" u="sng" dirty="0">
                <a:solidFill>
                  <a:srgbClr val="231F20"/>
                </a:solidFill>
                <a:effectLst/>
                <a:latin typeface="Calisto MT" panose="02040603050505030304" pitchFamily="18" charset="0"/>
              </a:rPr>
              <a:t>A good RQ speaks about the problem statemen</a:t>
            </a:r>
            <a:r>
              <a:rPr lang="en-US" sz="2000" b="1" u="sng" dirty="0">
                <a:solidFill>
                  <a:srgbClr val="202122"/>
                </a:solidFill>
                <a:latin typeface="Calisto MT" panose="02040603050505030304" pitchFamily="18" charset="0"/>
              </a:rPr>
              <a:t>t, </a:t>
            </a:r>
            <a:r>
              <a:rPr lang="en-US" sz="2000" b="1" u="sng" dirty="0">
                <a:solidFill>
                  <a:srgbClr val="231F20"/>
                </a:solidFill>
                <a:latin typeface="Calisto MT" panose="02040603050505030304" pitchFamily="18" charset="0"/>
              </a:rPr>
              <a:t>a</a:t>
            </a:r>
            <a:r>
              <a:rPr lang="en-US" sz="2000" b="1" i="0" u="sng" dirty="0">
                <a:solidFill>
                  <a:srgbClr val="231F20"/>
                </a:solidFill>
                <a:effectLst/>
                <a:latin typeface="Calisto MT" panose="02040603050505030304" pitchFamily="18" charset="0"/>
              </a:rPr>
              <a:t>dds focus to the problem statemen</a:t>
            </a:r>
            <a:r>
              <a:rPr lang="en-US" sz="2000" b="1" u="sng" dirty="0">
                <a:solidFill>
                  <a:srgbClr val="202122"/>
                </a:solidFill>
                <a:latin typeface="Calisto MT" panose="02040603050505030304" pitchFamily="18" charset="0"/>
              </a:rPr>
              <a:t>t</a:t>
            </a:r>
            <a:r>
              <a:rPr lang="en-US" sz="2000" b="1" dirty="0">
                <a:solidFill>
                  <a:srgbClr val="202122"/>
                </a:solidFill>
                <a:latin typeface="Calisto MT" panose="02040603050505030304" pitchFamily="18" charset="0"/>
              </a:rPr>
              <a:t>, </a:t>
            </a:r>
            <a:r>
              <a:rPr lang="en-US" sz="2000" b="1" dirty="0">
                <a:solidFill>
                  <a:srgbClr val="231F20"/>
                </a:solidFill>
                <a:latin typeface="Calisto MT" panose="02040603050505030304" pitchFamily="18" charset="0"/>
              </a:rPr>
              <a:t>g</a:t>
            </a:r>
            <a:r>
              <a:rPr lang="en-US" sz="2000" b="1" i="0" dirty="0">
                <a:solidFill>
                  <a:srgbClr val="231F20"/>
                </a:solidFill>
                <a:effectLst/>
                <a:latin typeface="Calisto MT" panose="02040603050505030304" pitchFamily="18" charset="0"/>
              </a:rPr>
              <a:t>uides data collection and analysis</a:t>
            </a:r>
            <a:r>
              <a:rPr lang="en-US" sz="2000" b="1" dirty="0">
                <a:solidFill>
                  <a:srgbClr val="202122"/>
                </a:solidFill>
                <a:latin typeface="Calisto MT" panose="02040603050505030304" pitchFamily="18" charset="0"/>
              </a:rPr>
              <a:t>, and </a:t>
            </a:r>
            <a:r>
              <a:rPr lang="en-US" sz="2000" b="1" dirty="0">
                <a:solidFill>
                  <a:srgbClr val="231F20"/>
                </a:solidFill>
                <a:latin typeface="Calisto MT" panose="02040603050505030304" pitchFamily="18" charset="0"/>
              </a:rPr>
              <a:t>s</a:t>
            </a:r>
            <a:r>
              <a:rPr lang="en-US" sz="2000" b="1" i="0" dirty="0">
                <a:solidFill>
                  <a:srgbClr val="231F20"/>
                </a:solidFill>
                <a:effectLst/>
                <a:latin typeface="Calisto MT" panose="02040603050505030304" pitchFamily="18" charset="0"/>
              </a:rPr>
              <a:t>ets context of research.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These are less narrow, more focused, and more subjective in nature.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Your project must contain at least three research questions. [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Try to limit your research questions to three</a:t>
            </a:r>
            <a:r>
              <a:rPr lang="en-US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].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Refer to 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  <a:hlinkClick r:id="rId2"/>
              </a:rPr>
              <a:t>https://www.scribbr.com/research-process/research-question-examples/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 for framing your research questions.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Must be numbered. Neither make your texts bold nor italicize them.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rgbClr val="252525"/>
              </a:solidFill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46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5. Title 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rgbClr val="282829"/>
                </a:solidFill>
                <a:effectLst/>
                <a:latin typeface="Calisto MT" panose="02040603050505030304" pitchFamily="18" charset="0"/>
              </a:rPr>
              <a:t>Justification of project title is simply validating why the proposed title is suitable for the project or what makes it a better alternative than other possible suggestions. 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Highlight the major words in the title justification paragraph. It must be your own words.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You can use bullet points or a numbered list to justify your project title.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Do not write more than 90 words. Do not Italicize your text.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000" b="1" dirty="0">
              <a:solidFill>
                <a:srgbClr val="282829"/>
              </a:solidFill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0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30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6.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i="0" dirty="0">
                <a:effectLst/>
                <a:latin typeface="Calisto MT" panose="02040603050505030304" pitchFamily="18" charset="0"/>
              </a:rPr>
              <a:t>Project objectives are the noteworthy steps needed to complete a project. 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i="0" dirty="0">
                <a:effectLst/>
                <a:latin typeface="Calisto MT" panose="02040603050505030304" pitchFamily="18" charset="0"/>
              </a:rPr>
              <a:t>Project objectives must be measurable and contain </a:t>
            </a:r>
            <a:r>
              <a:rPr lang="en-US" sz="2000" b="1" i="0" strike="noStrike" dirty="0">
                <a:effectLst/>
                <a:latin typeface="Calisto MT" panose="02040603050505030304" pitchFamily="18" charset="0"/>
              </a:rPr>
              <a:t>key performance indicators </a:t>
            </a:r>
            <a:r>
              <a:rPr lang="en-US" sz="2000" b="1" i="0" dirty="0">
                <a:effectLst/>
                <a:latin typeface="Calisto MT" panose="02040603050505030304" pitchFamily="18" charset="0"/>
              </a:rPr>
              <a:t>that will be used to assess a project's overall success. 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Must be numbered. Neither make your texts bold nor italicize them.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Your project must contain at least 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three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 and a maximum of 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four 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objectives.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i="0" dirty="0">
                <a:effectLst/>
                <a:latin typeface="Calisto MT" panose="02040603050505030304" pitchFamily="18" charset="0"/>
              </a:rPr>
              <a:t>Objectives should not be broad but specific to your work.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Initialize each sentence with the word ‘To’.</a:t>
            </a: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088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7.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1018094"/>
            <a:ext cx="8314441" cy="5338257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rgbClr val="202124"/>
                </a:solidFill>
                <a:latin typeface="Calisto MT" panose="02040603050505030304" pitchFamily="18" charset="0"/>
              </a:rPr>
              <a:t>S</a:t>
            </a:r>
            <a:r>
              <a:rPr lang="en-US" sz="2000" b="1" i="0" dirty="0">
                <a:solidFill>
                  <a:srgbClr val="202124"/>
                </a:solidFill>
                <a:effectLst/>
                <a:latin typeface="Calisto MT" panose="02040603050505030304" pitchFamily="18" charset="0"/>
              </a:rPr>
              <a:t>cope is </a:t>
            </a:r>
            <a:r>
              <a:rPr lang="en-US" sz="2000" b="1" i="0" dirty="0">
                <a:solidFill>
                  <a:srgbClr val="040C28"/>
                </a:solidFill>
                <a:effectLst/>
                <a:latin typeface="Calisto MT" panose="02040603050505030304" pitchFamily="18" charset="0"/>
              </a:rPr>
              <a:t>a way to set boundaries on your project and define exactly what goals, deadlines, and project deliverables you'll be working towards</a:t>
            </a:r>
            <a:r>
              <a:rPr lang="en-US" sz="2000" b="1" i="0" dirty="0">
                <a:solidFill>
                  <a:srgbClr val="202124"/>
                </a:solidFill>
                <a:effectLst/>
                <a:latin typeface="Calisto MT" panose="02040603050505030304" pitchFamily="18" charset="0"/>
              </a:rPr>
              <a:t>.</a:t>
            </a:r>
            <a:endParaRPr lang="en-US" sz="2000" b="1" dirty="0"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Clearly specify at least two scopes of your projects. The sentence should be neither too short nor too long.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Must be numbered. Neither make your texts bold nor italicize them.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It must be restricted to current project implementation.</a:t>
            </a:r>
            <a:endParaRPr lang="en-US" sz="2000" b="1" dirty="0">
              <a:solidFill>
                <a:srgbClr val="252525"/>
              </a:solidFill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744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8. Timeline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854995"/>
            <a:ext cx="8006303" cy="5882976"/>
          </a:xfrm>
        </p:spPr>
        <p:txBody>
          <a:bodyPr numCol="1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latin typeface="Calisto MT" panose="02040603050505030304" pitchFamily="18" charset="0"/>
              </a:rPr>
              <a:t> Table No. : Timeline chart for Mini Project work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Instruction: </a:t>
            </a:r>
            <a:r>
              <a:rPr lang="en-US" sz="19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The content of this table can be modified based on your project work. If actions 7, 8, and 9 are part of your project, those must be reflected in your UML diagrams, functional and non-functional requirements.</a:t>
            </a:r>
            <a:endParaRPr lang="en-US" sz="1900" b="1" dirty="0"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4DCFD7-D301-22BC-F52A-D51A7A93F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774" y="1232903"/>
            <a:ext cx="5194169" cy="426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9.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763571"/>
            <a:ext cx="8738647" cy="5974399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i="0" dirty="0">
                <a:solidFill>
                  <a:srgbClr val="2D2D2D"/>
                </a:solidFill>
                <a:effectLst/>
                <a:latin typeface="Calisto MT" panose="02040603050505030304" pitchFamily="18" charset="0"/>
              </a:rPr>
              <a:t>A project introduction should include key details about the project that give the reader enough information to understand the purpose and scope of the project.</a:t>
            </a:r>
            <a:endParaRPr lang="en-US" sz="2000" b="1" dirty="0">
              <a:solidFill>
                <a:srgbClr val="252525"/>
              </a:solidFill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Use bullet points or a numbered list to write the content. The sentences should be neither too short nor too long.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In the case of a figure, a caption must be included at the bottom. Multiple images in a single figure must be labeled as (a)..., (b)..., etc. (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If required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). Give citation reference to all the figures copied.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Multiple subsections of the introduction section must be labeled as 8.1., 8.2., etc.</a:t>
            </a:r>
            <a:endParaRPr lang="en-US" sz="20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AC4357-DCF3-9E91-FBAA-7064762AE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959" y="4549150"/>
            <a:ext cx="4703919" cy="1991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600F72-4AA7-FC29-F5AD-7549A8326620}"/>
              </a:ext>
            </a:extLst>
          </p:cNvPr>
          <p:cNvSpPr txBox="1"/>
          <p:nvPr/>
        </p:nvSpPr>
        <p:spPr>
          <a:xfrm>
            <a:off x="702297" y="522185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Caption of a figure that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contains multiple images</a:t>
            </a:r>
            <a:endParaRPr lang="en-US" sz="18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915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5107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584462"/>
            <a:ext cx="8314441" cy="6273538"/>
          </a:xfrm>
        </p:spPr>
        <p:txBody>
          <a:bodyPr numCol="1"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Title: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sto MT" panose="02040603050505030304" pitchFamily="18" charset="0"/>
              </a:rPr>
              <a:t>Title of the article [Reference no.]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Journal Details: </a:t>
            </a:r>
            <a:r>
              <a:rPr lang="en-US" sz="2300" dirty="0">
                <a:latin typeface="Calisto MT" panose="02040603050505030304" pitchFamily="18" charset="0"/>
              </a:rPr>
              <a:t>Name of the Journals, Vol., Issue, Publisher, Year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Dataset: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sto MT" panose="02040603050505030304" pitchFamily="18" charset="0"/>
              </a:rPr>
              <a:t>ORL and Caltech Face</a:t>
            </a:r>
            <a:endParaRPr lang="en-US" sz="2300" i="1" dirty="0">
              <a:solidFill>
                <a:schemeClr val="tx1">
                  <a:lumMod val="95000"/>
                  <a:lumOff val="5000"/>
                </a:schemeClr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Description: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300" b="1" i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[Example]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2200" dirty="0" err="1">
                <a:latin typeface="Calisto MT" panose="02040603050505030304" pitchFamily="18" charset="0"/>
              </a:rPr>
              <a:t>Gorgel</a:t>
            </a:r>
            <a:r>
              <a:rPr lang="en-US" sz="2200" dirty="0">
                <a:latin typeface="Calisto MT" panose="02040603050505030304" pitchFamily="18" charset="0"/>
              </a:rPr>
              <a:t> and </a:t>
            </a:r>
            <a:r>
              <a:rPr lang="en-US" sz="2200" dirty="0" err="1">
                <a:latin typeface="Calisto MT" panose="02040603050505030304" pitchFamily="18" charset="0"/>
              </a:rPr>
              <a:t>Simsek</a:t>
            </a:r>
            <a:r>
              <a:rPr lang="en-US" sz="2200" dirty="0">
                <a:latin typeface="Calisto MT" panose="02040603050505030304" pitchFamily="18" charset="0"/>
              </a:rPr>
              <a:t> presented </a:t>
            </a:r>
            <a:r>
              <a:rPr lang="en-US" sz="2200" b="1" dirty="0">
                <a:latin typeface="Calisto MT" panose="02040603050505030304" pitchFamily="18" charset="0"/>
              </a:rPr>
              <a:t>Deep Stacked Denoising Sparse Autoencoders (DSDSA) </a:t>
            </a:r>
            <a:r>
              <a:rPr lang="en-US" sz="2200" dirty="0">
                <a:latin typeface="Calisto MT" panose="02040603050505030304" pitchFamily="18" charset="0"/>
              </a:rPr>
              <a:t>for face recognition. It integrated </a:t>
            </a:r>
            <a:r>
              <a:rPr lang="en-US" sz="2200" b="1" dirty="0">
                <a:latin typeface="Calisto MT" panose="02040603050505030304" pitchFamily="18" charset="0"/>
              </a:rPr>
              <a:t>DNN, sparse autoencoders, and smoothing techniques</a:t>
            </a:r>
            <a:r>
              <a:rPr lang="en-US" sz="2200" dirty="0">
                <a:latin typeface="Calisto MT" panose="02040603050505030304" pitchFamily="18" charset="0"/>
              </a:rPr>
              <a:t> for </a:t>
            </a:r>
            <a:r>
              <a:rPr lang="en-US" sz="2200" b="1" dirty="0">
                <a:latin typeface="Calisto MT" panose="02040603050505030304" pitchFamily="18" charset="0"/>
              </a:rPr>
              <a:t>robust representation of face samples </a:t>
            </a:r>
            <a:r>
              <a:rPr lang="en-US" sz="2200" dirty="0">
                <a:latin typeface="Calisto MT" panose="02040603050505030304" pitchFamily="18" charset="0"/>
              </a:rPr>
              <a:t>with different postures, facial expressions, and occlusions under various lighting conditions. At last, the </a:t>
            </a:r>
            <a:r>
              <a:rPr lang="en-US" sz="2200" b="1" dirty="0">
                <a:latin typeface="Calisto MT" panose="02040603050505030304" pitchFamily="18" charset="0"/>
              </a:rPr>
              <a:t>Random Forest </a:t>
            </a:r>
            <a:r>
              <a:rPr lang="en-US" sz="2200" dirty="0">
                <a:latin typeface="Calisto MT" panose="02040603050505030304" pitchFamily="18" charset="0"/>
              </a:rPr>
              <a:t>and </a:t>
            </a:r>
            <a:r>
              <a:rPr lang="en-US" sz="2200" b="1" dirty="0">
                <a:latin typeface="Calisto MT" panose="02040603050505030304" pitchFamily="18" charset="0"/>
              </a:rPr>
              <a:t>Multiclass Support Vector Machine (SVM) </a:t>
            </a:r>
            <a:r>
              <a:rPr lang="en-US" sz="2200" dirty="0">
                <a:latin typeface="Calisto MT" panose="02040603050505030304" pitchFamily="18" charset="0"/>
              </a:rPr>
              <a:t>classifier trained on the facial features from the </a:t>
            </a:r>
            <a:r>
              <a:rPr lang="en-US" sz="2200" b="1" dirty="0">
                <a:latin typeface="Calisto MT" panose="02040603050505030304" pitchFamily="18" charset="0"/>
              </a:rPr>
              <a:t>ORL and </a:t>
            </a:r>
            <a:r>
              <a:rPr lang="en-US" sz="2200" b="1" dirty="0" err="1">
                <a:latin typeface="Calisto MT" panose="02040603050505030304" pitchFamily="18" charset="0"/>
              </a:rPr>
              <a:t>CalTech</a:t>
            </a:r>
            <a:r>
              <a:rPr lang="en-US" sz="2200" b="1" dirty="0">
                <a:latin typeface="Calisto MT" panose="02040603050505030304" pitchFamily="18" charset="0"/>
              </a:rPr>
              <a:t> face samples </a:t>
            </a:r>
            <a:r>
              <a:rPr lang="en-US" sz="2200" dirty="0">
                <a:latin typeface="Calisto MT" panose="02040603050505030304" pitchFamily="18" charset="0"/>
              </a:rPr>
              <a:t>had secured </a:t>
            </a:r>
            <a:r>
              <a:rPr lang="en-US" sz="2200" b="1" dirty="0">
                <a:latin typeface="Calisto MT" panose="02040603050505030304" pitchFamily="18" charset="0"/>
              </a:rPr>
              <a:t>97.50% and 98.21% accuracy</a:t>
            </a:r>
            <a:r>
              <a:rPr lang="en-US" sz="2200" dirty="0">
                <a:latin typeface="Calisto MT" panose="02040603050505030304" pitchFamily="18" charset="0"/>
              </a:rPr>
              <a:t>, respectively.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Gaps Addressed: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sto MT" panose="02040603050505030304" pitchFamily="18" charset="0"/>
              </a:rPr>
              <a:t>1.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sto MT" panose="02040603050505030304" pitchFamily="18" charset="0"/>
              </a:rPr>
              <a:t>2.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3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Limitations: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sto MT" panose="02040603050505030304" pitchFamily="18" charset="0"/>
              </a:rPr>
              <a:t>1.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sto MT" panose="02040603050505030304" pitchFamily="18" charset="0"/>
              </a:rPr>
              <a:t>2. </a:t>
            </a:r>
            <a:endParaRPr lang="en-US" sz="2300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825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8232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829558"/>
            <a:ext cx="8649093" cy="5891917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You can use bullet points or a numbered list to describe the related work, or else highlight the major words in the description.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Advantages and disadvantages must be specific to your work, i.e., if your work is application-specific, these must be framed with respect to application.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If your work is algorithm- or model-specific, advantages and disadvantages must be framed with respect to algorithms and models.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Include at least eight recently published journal articles from reputed publishers. Follow the same templates [slide no. 13] for all the articles.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b="1" dirty="0">
              <a:solidFill>
                <a:srgbClr val="252525"/>
              </a:solidFill>
              <a:effectLst/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534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2585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10. Study on Existing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5" y="584462"/>
            <a:ext cx="8649093" cy="6137014"/>
          </a:xfrm>
        </p:spPr>
        <p:txBody>
          <a:bodyPr numCol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latin typeface="Calisto MT" panose="02040603050505030304" pitchFamily="18" charset="0"/>
              </a:rPr>
              <a:t> Table no. : Summary of existing implementations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0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0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0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rgbClr val="252525"/>
              </a:solidFill>
              <a:effectLst/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Instruction: </a:t>
            </a:r>
            <a:r>
              <a:rPr lang="en-US" sz="1800" b="1" dirty="0">
                <a:solidFill>
                  <a:srgbClr val="252525"/>
                </a:solidFill>
                <a:latin typeface="Calisto MT" panose="02040603050505030304" pitchFamily="18" charset="0"/>
              </a:rPr>
              <a:t>P</a:t>
            </a: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resent a summary of all the articles (8 Minimum) in this table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.</a:t>
            </a:r>
            <a:endParaRPr lang="en-US" sz="20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85D228-CA1A-75B9-5371-F354B5295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683569"/>
              </p:ext>
            </p:extLst>
          </p:nvPr>
        </p:nvGraphicFramePr>
        <p:xfrm>
          <a:off x="292232" y="1064327"/>
          <a:ext cx="8564253" cy="517728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90430">
                  <a:extLst>
                    <a:ext uri="{9D8B030D-6E8A-4147-A177-3AD203B41FA5}">
                      <a16:colId xmlns:a16="http://schemas.microsoft.com/office/drawing/2014/main" val="432877409"/>
                    </a:ext>
                  </a:extLst>
                </a:gridCol>
                <a:gridCol w="1242313">
                  <a:extLst>
                    <a:ext uri="{9D8B030D-6E8A-4147-A177-3AD203B41FA5}">
                      <a16:colId xmlns:a16="http://schemas.microsoft.com/office/drawing/2014/main" val="4022791595"/>
                    </a:ext>
                  </a:extLst>
                </a:gridCol>
                <a:gridCol w="1572473">
                  <a:extLst>
                    <a:ext uri="{9D8B030D-6E8A-4147-A177-3AD203B41FA5}">
                      <a16:colId xmlns:a16="http://schemas.microsoft.com/office/drawing/2014/main" val="1778043887"/>
                    </a:ext>
                  </a:extLst>
                </a:gridCol>
                <a:gridCol w="1567050">
                  <a:extLst>
                    <a:ext uri="{9D8B030D-6E8A-4147-A177-3AD203B41FA5}">
                      <a16:colId xmlns:a16="http://schemas.microsoft.com/office/drawing/2014/main" val="3791631466"/>
                    </a:ext>
                  </a:extLst>
                </a:gridCol>
                <a:gridCol w="1097719">
                  <a:extLst>
                    <a:ext uri="{9D8B030D-6E8A-4147-A177-3AD203B41FA5}">
                      <a16:colId xmlns:a16="http://schemas.microsoft.com/office/drawing/2014/main" val="4167121675"/>
                    </a:ext>
                  </a:extLst>
                </a:gridCol>
                <a:gridCol w="1247134">
                  <a:extLst>
                    <a:ext uri="{9D8B030D-6E8A-4147-A177-3AD203B41FA5}">
                      <a16:colId xmlns:a16="http://schemas.microsoft.com/office/drawing/2014/main" val="4011068276"/>
                    </a:ext>
                  </a:extLst>
                </a:gridCol>
                <a:gridCol w="1247134">
                  <a:extLst>
                    <a:ext uri="{9D8B030D-6E8A-4147-A177-3AD203B41FA5}">
                      <a16:colId xmlns:a16="http://schemas.microsoft.com/office/drawing/2014/main" val="314959864"/>
                    </a:ext>
                  </a:extLst>
                </a:gridCol>
              </a:tblGrid>
              <a:tr h="3097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sto MT" panose="02040603050505030304" pitchFamily="18" charset="0"/>
                        </a:rPr>
                        <a:t>S. No.</a:t>
                      </a:r>
                      <a:endParaRPr lang="en-US" sz="1400" b="1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sto MT" panose="02040603050505030304" pitchFamily="18" charset="0"/>
                        </a:rPr>
                        <a:t>Article Title </a:t>
                      </a:r>
                      <a:endParaRPr lang="en-US" sz="1400" b="1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sto MT" panose="02040603050505030304" pitchFamily="18" charset="0"/>
                        </a:rPr>
                        <a:t>Journal Details</a:t>
                      </a:r>
                      <a:endParaRPr lang="en-US" sz="1400" b="1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sto MT" panose="02040603050505030304" pitchFamily="18" charset="0"/>
                        </a:rPr>
                        <a:t>Algorithms/ Models</a:t>
                      </a:r>
                      <a:endParaRPr lang="en-US" sz="1400" b="1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sto MT" panose="02040603050505030304" pitchFamily="18" charset="0"/>
                        </a:rPr>
                        <a:t>Dataset(s)</a:t>
                      </a:r>
                      <a:endParaRPr lang="en-US" sz="1400" b="1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sto MT" panose="02040603050505030304" pitchFamily="18" charset="0"/>
                        </a:rPr>
                        <a:t>Gaps Addressed</a:t>
                      </a:r>
                      <a:endParaRPr lang="en-US" sz="1400" b="1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sto MT" panose="02040603050505030304" pitchFamily="18" charset="0"/>
                        </a:rPr>
                        <a:t>Limitations</a:t>
                      </a:r>
                      <a:endParaRPr lang="en-US" sz="1400" b="1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280105"/>
                  </a:ext>
                </a:extLst>
              </a:tr>
              <a:tr h="3097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1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  <a:endParaRPr lang="en-US" sz="140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1.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2.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3.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1.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2.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3. 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extLst>
                  <a:ext uri="{0D108BD9-81ED-4DB2-BD59-A6C34878D82A}">
                    <a16:rowId xmlns:a16="http://schemas.microsoft.com/office/drawing/2014/main" val="3997161527"/>
                  </a:ext>
                </a:extLst>
              </a:tr>
              <a:tr h="3097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2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1.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2.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3.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1.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2.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3. 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extLst>
                  <a:ext uri="{0D108BD9-81ED-4DB2-BD59-A6C34878D82A}">
                    <a16:rowId xmlns:a16="http://schemas.microsoft.com/office/drawing/2014/main" val="3038168224"/>
                  </a:ext>
                </a:extLst>
              </a:tr>
              <a:tr h="3097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3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sto MT" panose="02040603050505030304" pitchFamily="18" charset="0"/>
                        </a:rPr>
                        <a:t> </a:t>
                      </a:r>
                      <a:endParaRPr lang="en-US" sz="140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1.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2.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3.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1.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2.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3. 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extLst>
                  <a:ext uri="{0D108BD9-81ED-4DB2-BD59-A6C34878D82A}">
                    <a16:rowId xmlns:a16="http://schemas.microsoft.com/office/drawing/2014/main" val="337598837"/>
                  </a:ext>
                </a:extLst>
              </a:tr>
              <a:tr h="3097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1.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2.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3.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1.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2.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sto MT" panose="02040603050505030304" pitchFamily="18" charset="0"/>
                        </a:rPr>
                        <a:t>3. </a:t>
                      </a:r>
                      <a:endParaRPr lang="en-US" sz="1400" dirty="0">
                        <a:effectLst/>
                        <a:latin typeface="Calisto MT" panose="020406030505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20" marR="59920" marT="0" marB="0" anchor="ctr"/>
                </a:tc>
                <a:extLst>
                  <a:ext uri="{0D108BD9-81ED-4DB2-BD59-A6C34878D82A}">
                    <a16:rowId xmlns:a16="http://schemas.microsoft.com/office/drawing/2014/main" val="2517462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800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11. 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The gap, also considered the missing piece or pieces in the research literature, is the area that has not yet been explored or is under-explored.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i="0" dirty="0">
                <a:effectLst/>
                <a:latin typeface="Calisto MT" panose="02040603050505030304" pitchFamily="18" charset="0"/>
              </a:rPr>
              <a:t>This could be a population or sample (size, type, location, etc.), research method, data collection and/or analysis, or other research variables or conditions.</a:t>
            </a:r>
            <a:endParaRPr lang="en-US" sz="2000" b="1" dirty="0"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Must be numbered. Neither make your texts bold nor italicize them.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Try to encapsulate the gap analysis within 5 to 6 points.</a:t>
            </a: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785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3976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12. SDLC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365" y="565608"/>
            <a:ext cx="8175984" cy="6155868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Select the appropriate model for your project execution. To understand different types of model </a:t>
            </a:r>
            <a:r>
              <a:rPr lang="en-US" sz="2000" b="1" dirty="0">
                <a:latin typeface="Calisto MT" panose="02040603050505030304" pitchFamily="18" charset="0"/>
                <a:hlinkClick r:id="rId2"/>
              </a:rPr>
              <a:t>https://www.tutorialspoint.com/sdlc/index.htm</a:t>
            </a:r>
            <a:r>
              <a:rPr lang="en-US" sz="2000" b="1" dirty="0">
                <a:latin typeface="Calisto MT" panose="02040603050505030304" pitchFamily="18" charset="0"/>
              </a:rPr>
              <a:t>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It should not be generic one, all the phases must be defined with respect to your project phases.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In the case of a machine learning project, select the appropriate model (pt. 1) to represent the seven stages of the machine learning life cycle </a:t>
            </a:r>
            <a:r>
              <a:rPr lang="en-US" sz="2000" b="1" dirty="0">
                <a:latin typeface="Calisto MT" panose="02040603050505030304" pitchFamily="18" charset="0"/>
              </a:rPr>
              <a:t>(</a:t>
            </a:r>
            <a:r>
              <a:rPr lang="en-US" sz="2000" b="1" i="1" dirty="0">
                <a:latin typeface="Calisto MT" panose="02040603050505030304" pitchFamily="18" charset="0"/>
              </a:rPr>
              <a:t>Figure given below</a:t>
            </a:r>
            <a:r>
              <a:rPr lang="en-US" sz="2000" b="1" dirty="0">
                <a:latin typeface="Calisto MT" panose="02040603050505030304" pitchFamily="18" charset="0"/>
              </a:rPr>
              <a:t>).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Figure number and 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caption must be included at the bottom with appropriate citation in the reference.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 Do not describe the figure in PPT.</a:t>
            </a: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b="1" dirty="0">
              <a:solidFill>
                <a:srgbClr val="252525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52525"/>
                </a:solidFill>
                <a:latin typeface="Calisto MT" panose="02040603050505030304" pitchFamily="18" charset="0"/>
              </a:rPr>
              <a:t>   </a:t>
            </a:r>
            <a:r>
              <a:rPr lang="en-IN" sz="2400" b="1" dirty="0">
                <a:latin typeface="Calisto MT" panose="02040603050505030304" pitchFamily="18" charset="0"/>
              </a:rPr>
              <a:t>(</a:t>
            </a:r>
            <a:r>
              <a:rPr lang="en-IN" sz="24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No AI generated Image(s)</a:t>
            </a:r>
            <a:r>
              <a:rPr lang="en-IN" sz="2400" b="1" dirty="0">
                <a:latin typeface="Calisto MT" panose="02040603050505030304" pitchFamily="18" charset="0"/>
              </a:rPr>
              <a:t>)</a:t>
            </a:r>
            <a:endParaRPr lang="en-US" sz="24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30A4B5C7-79C4-AE2B-C3E2-4632FDF63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89" y="4309107"/>
            <a:ext cx="2507528" cy="23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456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30"/>
            <a:ext cx="8738648" cy="455006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13.1. 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471340"/>
            <a:ext cx="8314441" cy="6266631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1900" b="1" dirty="0">
                <a:latin typeface="Calisto MT" panose="02040603050505030304" pitchFamily="18" charset="0"/>
              </a:rPr>
              <a:t>Select the correct actors, use cases and subject related to your project, and represent the relation between them properly. To understand activity diagram: </a:t>
            </a:r>
            <a:r>
              <a:rPr lang="en-US" sz="1900" b="1" dirty="0">
                <a:solidFill>
                  <a:srgbClr val="252525"/>
                </a:solidFill>
                <a:effectLst/>
                <a:latin typeface="Calisto MT" panose="02040603050505030304" pitchFamily="18" charset="0"/>
                <a:hlinkClick r:id="rId2"/>
              </a:rPr>
              <a:t>https://www.lucidchart.com/pages/uml-use-case-diagram</a:t>
            </a:r>
            <a:r>
              <a:rPr lang="en-US" sz="19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 </a:t>
            </a:r>
            <a:endParaRPr lang="en-US" sz="1900" dirty="0">
              <a:solidFill>
                <a:srgbClr val="252525"/>
              </a:solidFill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9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Use </a:t>
            </a:r>
            <a:r>
              <a:rPr lang="en-US" sz="19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draw.io </a:t>
            </a:r>
            <a:r>
              <a:rPr lang="en-US" sz="19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or </a:t>
            </a:r>
            <a:r>
              <a:rPr lang="en-US" sz="1900" b="1" i="1" dirty="0" err="1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Lucidchart</a:t>
            </a:r>
            <a:r>
              <a:rPr lang="en-US" sz="19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 to plot your diagram. Do not include the </a:t>
            </a:r>
            <a:r>
              <a:rPr lang="en-US" sz="19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[brown color text] </a:t>
            </a:r>
            <a:r>
              <a:rPr lang="en-US" sz="19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in your diagram. These are only for understanding purposes. </a:t>
            </a:r>
            <a:r>
              <a:rPr lang="en-IN" sz="1800" b="1" dirty="0">
                <a:latin typeface="Calisto MT" panose="02040603050505030304" pitchFamily="18" charset="0"/>
              </a:rPr>
              <a:t>(</a:t>
            </a:r>
            <a:r>
              <a:rPr lang="en-IN" sz="18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No AI generated Image(s)</a:t>
            </a:r>
            <a:r>
              <a:rPr lang="en-IN" sz="1800" b="1" dirty="0">
                <a:latin typeface="Calisto MT" panose="02040603050505030304" pitchFamily="18" charset="0"/>
              </a:rPr>
              <a:t>)</a:t>
            </a:r>
            <a:r>
              <a:rPr lang="en-US" sz="19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 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900" b="1" dirty="0">
                <a:latin typeface="Calisto MT" panose="02040603050505030304" pitchFamily="18" charset="0"/>
              </a:rPr>
              <a:t>Figure number and </a:t>
            </a:r>
            <a:r>
              <a:rPr lang="en-US" sz="19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caption must be included at the bottom. Do not describe the figure in PPT.</a:t>
            </a:r>
            <a:endParaRPr lang="en-US" sz="19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i="1" u="sng" dirty="0">
                <a:latin typeface="Calisto MT" panose="02040603050505030304" pitchFamily="18" charset="0"/>
              </a:rPr>
              <a:t>A few Use Case diagram examples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Diagram">
            <a:extLst>
              <a:ext uri="{FF2B5EF4-FFF2-40B4-BE49-F238E27FC236}">
                <a16:creationId xmlns:a16="http://schemas.microsoft.com/office/drawing/2014/main" id="{B3781D97-333E-4F33-10F9-63C341361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4054247"/>
            <a:ext cx="3163482" cy="2665187"/>
          </a:xfrm>
          <a:prstGeom prst="rect">
            <a:avLst/>
          </a:prstGeom>
        </p:spPr>
      </p:pic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B6667CED-DFE5-5280-6C67-E8574D75D1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781" y="3604655"/>
            <a:ext cx="3816979" cy="299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12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46728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13.2. Sequence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527901"/>
            <a:ext cx="8314441" cy="621007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Use basic symbols and components in your sequence diagram as per the requirements in your project</a:t>
            </a:r>
            <a:r>
              <a:rPr lang="en-US" sz="1800" b="1" dirty="0">
                <a:latin typeface="Calisto MT" panose="02040603050505030304" pitchFamily="18" charset="0"/>
              </a:rPr>
              <a:t>. To understand sequence diagram: </a:t>
            </a:r>
            <a:r>
              <a:rPr lang="en-US" sz="1800" b="1" dirty="0">
                <a:latin typeface="Calisto MT" panose="02040603050505030304" pitchFamily="18" charset="0"/>
                <a:hlinkClick r:id="rId2"/>
              </a:rPr>
              <a:t>https://www.lucidchart.com/pages/uml-sequence-diagram</a:t>
            </a:r>
            <a:r>
              <a:rPr lang="en-US" sz="1800" b="1" dirty="0">
                <a:latin typeface="Calisto MT" panose="02040603050505030304" pitchFamily="18" charset="0"/>
              </a:rPr>
              <a:t> </a:t>
            </a:r>
            <a:r>
              <a:rPr lang="en-US" sz="1800" b="1" dirty="0">
                <a:latin typeface="Calisto MT" panose="02040603050505030304" pitchFamily="18" charset="0"/>
                <a:hlinkClick r:id="rId3"/>
              </a:rPr>
              <a:t>https://www.youtube.com/watch?v=pCK6prSq8aw</a:t>
            </a:r>
            <a:r>
              <a:rPr lang="en-US" sz="1800" b="1" dirty="0">
                <a:latin typeface="Calisto MT" panose="02040603050505030304" pitchFamily="18" charset="0"/>
              </a:rPr>
              <a:t>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Use </a:t>
            </a:r>
            <a:r>
              <a:rPr lang="en-US" sz="18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draw.io </a:t>
            </a: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or </a:t>
            </a:r>
            <a:r>
              <a:rPr lang="en-US" sz="1800" b="1" i="1" dirty="0" err="1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Lucidchart</a:t>
            </a: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 to plot your diagram. Do not include </a:t>
            </a:r>
            <a:r>
              <a:rPr lang="en-US" sz="18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[the brown color text] </a:t>
            </a: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in your diagram. These are only for understanding purposes. </a:t>
            </a:r>
            <a:r>
              <a:rPr lang="en-IN" sz="1800" b="1" dirty="0">
                <a:latin typeface="Calisto MT" panose="02040603050505030304" pitchFamily="18" charset="0"/>
              </a:rPr>
              <a:t>(</a:t>
            </a:r>
            <a:r>
              <a:rPr lang="en-IN" sz="18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No AI generated Image(s)</a:t>
            </a:r>
            <a:r>
              <a:rPr lang="en-IN" sz="1800" b="1" dirty="0">
                <a:latin typeface="Calisto MT" panose="02040603050505030304" pitchFamily="18" charset="0"/>
              </a:rPr>
              <a:t>)</a:t>
            </a:r>
            <a:endParaRPr lang="en-US" sz="1800" dirty="0">
              <a:solidFill>
                <a:srgbClr val="252525"/>
              </a:solidFill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800" b="1" dirty="0">
                <a:latin typeface="Calisto MT" panose="02040603050505030304" pitchFamily="18" charset="0"/>
              </a:rPr>
              <a:t>Figure number and </a:t>
            </a: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caption must be included at the bottom. Do not describe the figure in PPT.</a:t>
            </a:r>
            <a:endParaRPr lang="en-US" sz="18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u="sng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u="sng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i="1" u="sng" dirty="0">
                <a:latin typeface="Calisto MT" panose="02040603050505030304" pitchFamily="18" charset="0"/>
              </a:rPr>
              <a:t>Sequence diagram Example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5" name="Picture 4" descr="Diagram, schematic">
            <a:extLst>
              <a:ext uri="{FF2B5EF4-FFF2-40B4-BE49-F238E27FC236}">
                <a16:creationId xmlns:a16="http://schemas.microsoft.com/office/drawing/2014/main" id="{C8116734-9511-AF39-37C0-5BB17492A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650" y="3566759"/>
            <a:ext cx="4637791" cy="315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52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DBD62C-3A4D-90CC-34C6-C0BBCF3A3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245" y="1215504"/>
            <a:ext cx="5197410" cy="48694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13.3. 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9" y="575034"/>
            <a:ext cx="3806694" cy="6282965"/>
          </a:xfrm>
        </p:spPr>
        <p:txBody>
          <a:bodyPr numCol="1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Use activity diagram notations and symbols properly related to your project work. To understand activity diagram:  </a:t>
            </a:r>
            <a:r>
              <a:rPr lang="en-US" sz="2000" b="1" dirty="0">
                <a:latin typeface="Calisto MT" panose="02040603050505030304" pitchFamily="18" charset="0"/>
                <a:hlinkClick r:id="rId3"/>
              </a:rPr>
              <a:t>https://www.lucidchart.com/pages/uml-activity-diagram</a:t>
            </a:r>
            <a:r>
              <a:rPr lang="en-US" sz="2000" b="1" dirty="0">
                <a:latin typeface="Calisto MT" panose="02040603050505030304" pitchFamily="18" charset="0"/>
              </a:rPr>
              <a:t> </a:t>
            </a:r>
            <a:r>
              <a:rPr lang="en-US" sz="2000" b="1" dirty="0">
                <a:latin typeface="Calisto MT" panose="02040603050505030304" pitchFamily="18" charset="0"/>
                <a:hlinkClick r:id="rId4"/>
              </a:rPr>
              <a:t>https://www.youtube.com/watch?v=_tCedK0CfMk</a:t>
            </a:r>
            <a:r>
              <a:rPr lang="en-US" sz="2000" b="1" dirty="0">
                <a:latin typeface="Calisto MT" panose="02040603050505030304" pitchFamily="18" charset="0"/>
              </a:rPr>
              <a:t> 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Use 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draw.io 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or </a:t>
            </a:r>
            <a:r>
              <a:rPr lang="en-US" sz="2000" b="1" i="1" dirty="0" err="1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Lucidchart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 to plot your diagram. Do not include [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the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 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bold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 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black color text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]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 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in your diagram. These are only for understanding purposes.</a:t>
            </a:r>
            <a:r>
              <a:rPr lang="en-IN" sz="2000" b="1" dirty="0">
                <a:latin typeface="Calisto MT" panose="02040603050505030304" pitchFamily="18" charset="0"/>
              </a:rPr>
              <a:t> (</a:t>
            </a:r>
            <a:r>
              <a:rPr lang="en-IN" sz="20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No AI generated Image(s)</a:t>
            </a:r>
            <a:r>
              <a:rPr lang="en-IN" sz="2000" b="1" dirty="0">
                <a:latin typeface="Calisto MT" panose="02040603050505030304" pitchFamily="18" charset="0"/>
              </a:rPr>
              <a:t>)</a:t>
            </a:r>
            <a:endParaRPr lang="en-US" sz="2000" b="1" dirty="0">
              <a:solidFill>
                <a:srgbClr val="252525"/>
              </a:solidFill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Figure number and 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caption must be included at the bottom. Do not describe the figure in PPT.</a:t>
            </a:r>
            <a:endParaRPr lang="en-US" sz="20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1BF3B-91C2-7687-6CD7-554081E31AAF}"/>
              </a:ext>
            </a:extLst>
          </p:cNvPr>
          <p:cNvSpPr txBox="1"/>
          <p:nvPr/>
        </p:nvSpPr>
        <p:spPr>
          <a:xfrm>
            <a:off x="4647414" y="772998"/>
            <a:ext cx="4213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sng" dirty="0">
                <a:latin typeface="Calisto MT" panose="02040603050505030304" pitchFamily="18" charset="0"/>
              </a:rPr>
              <a:t>Activity diagram Example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914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36" y="136524"/>
            <a:ext cx="8738648" cy="5492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14. Functional and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20132"/>
            <a:ext cx="8314441" cy="5917838"/>
          </a:xfrm>
        </p:spPr>
        <p:txBody>
          <a:bodyPr numCol="1">
            <a:normAutofit lnSpcReduction="10000"/>
          </a:bodyPr>
          <a:lstStyle/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Functional requirements: </a:t>
            </a:r>
            <a:r>
              <a:rPr lang="en-US" sz="2000" b="0" i="0" dirty="0">
                <a:solidFill>
                  <a:schemeClr val="accent2">
                    <a:lumMod val="50000"/>
                  </a:schemeClr>
                </a:solidFill>
                <a:effectLst/>
                <a:latin typeface="Calisto MT" panose="02040603050505030304" pitchFamily="18" charset="0"/>
              </a:rPr>
              <a:t> </a:t>
            </a:r>
            <a:r>
              <a:rPr lang="en-US" sz="2000" b="1" dirty="0">
                <a:solidFill>
                  <a:srgbClr val="273239"/>
                </a:solidFill>
                <a:effectLst/>
                <a:latin typeface="Calisto MT" panose="02040603050505030304" pitchFamily="18" charset="0"/>
              </a:rPr>
              <a:t>Specifically demands as basic facilities that the system should offer. All these functionalities need to be necessarily incorporated into the system.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73239"/>
                </a:solidFill>
                <a:latin typeface="Calisto MT" panose="02040603050505030304" pitchFamily="18" charset="0"/>
              </a:rPr>
              <a:t>	Refer this video to frame your functional requirements: 	</a:t>
            </a:r>
            <a:r>
              <a:rPr lang="en-US" sz="2000" b="1" dirty="0">
                <a:solidFill>
                  <a:srgbClr val="273239"/>
                </a:solidFill>
                <a:latin typeface="Calisto MT" panose="02040603050505030304" pitchFamily="18" charset="0"/>
                <a:hlinkClick r:id="rId2"/>
              </a:rPr>
              <a:t>https://www.youtube.com/watch?v=D6R7njeK-qg</a:t>
            </a:r>
            <a:r>
              <a:rPr lang="en-US" sz="2000" b="1" dirty="0">
                <a:solidFill>
                  <a:srgbClr val="273239"/>
                </a:solidFill>
                <a:latin typeface="Calisto MT" panose="02040603050505030304" pitchFamily="18" charset="0"/>
              </a:rPr>
              <a:t> </a:t>
            </a:r>
            <a:endParaRPr lang="en-US" sz="2000" b="1" dirty="0">
              <a:solidFill>
                <a:srgbClr val="273239"/>
              </a:solidFill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2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Non-Functional Requirements: </a:t>
            </a:r>
            <a:r>
              <a:rPr lang="en-US" sz="2000" b="1" dirty="0">
                <a:solidFill>
                  <a:srgbClr val="273239"/>
                </a:solidFill>
                <a:latin typeface="Calisto MT" panose="02040603050505030304" pitchFamily="18" charset="0"/>
              </a:rPr>
              <a:t>T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Calisto MT" panose="02040603050505030304" pitchFamily="18" charset="0"/>
              </a:rPr>
              <a:t>he quality constraints that the system must satisfy according to the project.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73239"/>
                </a:solidFill>
                <a:latin typeface="Calisto MT" panose="02040603050505030304" pitchFamily="18" charset="0"/>
              </a:rPr>
              <a:t>	Refer the following video to frame your non-functional 	requirements: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73239"/>
                </a:solidFill>
                <a:latin typeface="Calisto MT" panose="02040603050505030304" pitchFamily="18" charset="0"/>
              </a:rPr>
              <a:t>	</a:t>
            </a:r>
            <a:r>
              <a:rPr lang="en-US" sz="2000" b="1" dirty="0">
                <a:solidFill>
                  <a:srgbClr val="273239"/>
                </a:solidFill>
                <a:latin typeface="Calisto MT" panose="02040603050505030304" pitchFamily="18" charset="0"/>
                <a:hlinkClick r:id="rId3"/>
              </a:rPr>
              <a:t>https://www.youtube.com/watch?v=2DwpAyzJrVQ</a:t>
            </a:r>
            <a:r>
              <a:rPr lang="en-US" sz="2000" b="1" dirty="0">
                <a:solidFill>
                  <a:srgbClr val="273239"/>
                </a:solidFill>
                <a:latin typeface="Calisto MT" panose="0204060305050503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73239"/>
                </a:solidFill>
                <a:latin typeface="Calisto MT" panose="02040603050505030304" pitchFamily="18" charset="0"/>
              </a:rPr>
              <a:t>To understand functional and non-functional requirements: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  <a:hlinkClick r:id="rId4"/>
              </a:rPr>
              <a:t>https://www.geeksforgeeks.org/functional-vs-non-functional-requirements/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 </a:t>
            </a: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Instructions: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Present the functional and non-functional requirements in tabular format.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The table caption must be at the top of the table. Do not Describe.</a:t>
            </a: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608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15. Data Collection </a:t>
            </a:r>
            <a:r>
              <a:rPr lang="en-US" sz="4000" b="1" i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[Example]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685797"/>
            <a:ext cx="8314441" cy="6052174"/>
          </a:xfrm>
        </p:spPr>
        <p:txBody>
          <a:bodyPr numCol="1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Name of the Dataset: </a:t>
            </a:r>
            <a:r>
              <a:rPr lang="en-US" sz="2000" dirty="0">
                <a:latin typeface="Calisto MT" panose="02040603050505030304" pitchFamily="18" charset="0"/>
              </a:rPr>
              <a:t>UNIMIB 2016 [Reference no.]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Description: </a:t>
            </a:r>
            <a:r>
              <a:rPr lang="en-US" sz="2000" dirty="0">
                <a:latin typeface="Calisto MT" panose="02040603050505030304" pitchFamily="18" charset="0"/>
              </a:rPr>
              <a:t>This database can be used for </a:t>
            </a:r>
            <a:r>
              <a:rPr lang="en-US" sz="2000" b="1" dirty="0">
                <a:latin typeface="Calisto MT" panose="02040603050505030304" pitchFamily="18" charset="0"/>
              </a:rPr>
              <a:t>food recognition, segmentation as well as quantity estimation</a:t>
            </a:r>
            <a:r>
              <a:rPr lang="en-US" sz="2000" dirty="0">
                <a:latin typeface="Calisto MT" panose="02040603050505030304" pitchFamily="18" charset="0"/>
              </a:rPr>
              <a:t>. It includes multiple food item images. This dataset was captured from The canteen situated within the </a:t>
            </a:r>
            <a:r>
              <a:rPr lang="en-US" sz="2000" b="1" dirty="0">
                <a:latin typeface="Calisto MT" panose="02040603050505030304" pitchFamily="18" charset="0"/>
              </a:rPr>
              <a:t>‘University of Milano-Bicocca’ </a:t>
            </a:r>
            <a:r>
              <a:rPr lang="en-US" sz="2000" dirty="0">
                <a:latin typeface="Calisto MT" panose="02040603050505030304" pitchFamily="18" charset="0"/>
              </a:rPr>
              <a:t>campus. The particularities of this setting are that each image </a:t>
            </a:r>
            <a:r>
              <a:rPr lang="en-US" sz="2000" b="1" dirty="0">
                <a:latin typeface="Calisto MT" panose="02040603050505030304" pitchFamily="18" charset="0"/>
              </a:rPr>
              <a:t>depicts different foods on a tray, and some foods (e.g., fruit, bread and dessert)</a:t>
            </a:r>
            <a:r>
              <a:rPr lang="en-US" sz="2000" dirty="0">
                <a:latin typeface="Calisto MT" panose="02040603050505030304" pitchFamily="18" charset="0"/>
              </a:rPr>
              <a:t> are placed on the place mats rather than on plates. The images present visual distortions as well as illumination changes due to shadows.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>
              <a:latin typeface="Calisto MT" panose="0204060305050503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Classes: </a:t>
            </a:r>
            <a:r>
              <a:rPr lang="en-US" sz="2000" dirty="0">
                <a:latin typeface="Calisto MT" panose="02040603050505030304" pitchFamily="18" charset="0"/>
              </a:rPr>
              <a:t>73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Number of Images : </a:t>
            </a:r>
            <a:r>
              <a:rPr lang="en-US" sz="2000" dirty="0">
                <a:latin typeface="Calisto MT" panose="02040603050505030304" pitchFamily="18" charset="0"/>
              </a:rPr>
              <a:t>1024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Train set size: </a:t>
            </a:r>
            <a:r>
              <a:rPr lang="en-US" sz="2000" dirty="0">
                <a:latin typeface="Calisto MT" panose="02040603050505030304" pitchFamily="18" charset="0"/>
              </a:rPr>
              <a:t>650 </a:t>
            </a:r>
            <a:r>
              <a:rPr lang="en-US" sz="2000" b="1" i="1" dirty="0">
                <a:latin typeface="Calisto MT" panose="02040603050505030304" pitchFamily="18" charset="0"/>
              </a:rPr>
              <a:t>(Predefined, else specify the __%)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Test set size: </a:t>
            </a:r>
            <a:r>
              <a:rPr lang="en-US" sz="2000" dirty="0">
                <a:latin typeface="Calisto MT" panose="02040603050505030304" pitchFamily="18" charset="0"/>
              </a:rPr>
              <a:t>374 </a:t>
            </a:r>
            <a:r>
              <a:rPr lang="en-US" sz="2000" b="1" i="1" dirty="0">
                <a:latin typeface="Calisto MT" panose="02040603050505030304" pitchFamily="18" charset="0"/>
              </a:rPr>
              <a:t>(Predefined, else specify the __%)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Validation set size:  ___   </a:t>
            </a:r>
            <a:r>
              <a:rPr lang="en-US" sz="2000" b="1" i="1" dirty="0">
                <a:latin typeface="Calisto MT" panose="02040603050505030304" pitchFamily="18" charset="0"/>
              </a:rPr>
              <a:t>(If any)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Image resolution:  </a:t>
            </a:r>
            <a:r>
              <a:rPr lang="en-US" sz="2000" dirty="0">
                <a:latin typeface="Calisto MT" panose="02040603050505030304" pitchFamily="18" charset="0"/>
              </a:rPr>
              <a:t>480 x 360 pixels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Instructions: </a:t>
            </a:r>
            <a:r>
              <a:rPr lang="en-US" sz="2000" b="1" dirty="0">
                <a:solidFill>
                  <a:srgbClr val="C00000"/>
                </a:solidFill>
                <a:latin typeface="Calisto MT" panose="02040603050505030304" pitchFamily="18" charset="0"/>
              </a:rPr>
              <a:t> 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You can use bullet points or a numbered list to describe the dataset, else highlight the major words in the description.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If you are using multiple datasets, describe those in separate slides.</a:t>
            </a:r>
            <a:endParaRPr lang="en-US" sz="20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16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16.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685797"/>
            <a:ext cx="8314441" cy="6052174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Explain the data preparation procedures, algorithms, or pseudocode (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Refer slide 28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) with inputs and outputs. (Vary depending on the chosen domain and your work) OR block diagram/architecture (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Refer slide 27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) of data preparation technique. (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If required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)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Display the input and output with proper captions (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If required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). All the figures must be centered.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In the case of a figure, a caption must be included at the bottom. Multiple images in a single figure must be labeled as (a)..., (b)..., etc. (</a:t>
            </a:r>
            <a:r>
              <a:rPr lang="en-US" sz="20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If required</a:t>
            </a: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To understand pseudo-code conventions, use this link: </a:t>
            </a:r>
            <a:r>
              <a:rPr lang="en-US" sz="1800" b="1" dirty="0">
                <a:solidFill>
                  <a:srgbClr val="252525"/>
                </a:solidFill>
                <a:latin typeface="Calisto MT" panose="02040603050505030304" pitchFamily="18" charset="0"/>
                <a:hlinkClick r:id="rId2"/>
              </a:rPr>
              <a:t>https://onlinelibrary.wiley.com/doi/pdf/10.1002/0470029757.app1</a:t>
            </a:r>
            <a:r>
              <a:rPr lang="en-US" sz="1800" b="1" dirty="0">
                <a:solidFill>
                  <a:srgbClr val="252525"/>
                </a:solidFill>
                <a:latin typeface="Calisto MT" panose="0204060305050503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Caption of a figure that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contains multiple images</a:t>
            </a:r>
            <a:endParaRPr lang="en-US" sz="20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941B6E-139C-E71B-5703-C9C0621DE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96" y="4930033"/>
            <a:ext cx="4269831" cy="180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35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6D41-8B00-DE8F-7F82-9281F7F1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4518-4D1A-BA7B-0FD9-70F4CE31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18" y="126999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17.1. Proposed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F70F8-B6B8-9FE3-3F23-6A22925B2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600075"/>
            <a:ext cx="8314441" cy="6137896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Instructions: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b="1" dirty="0">
                <a:latin typeface="Calisto MT" panose="02040603050505030304" pitchFamily="18" charset="0"/>
              </a:rPr>
              <a:t>Present the overall architecture of the proposed system (</a:t>
            </a:r>
            <a:r>
              <a:rPr lang="en-IN" sz="16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No AI generated Image(s)</a:t>
            </a:r>
            <a:r>
              <a:rPr lang="en-IN" sz="1600" b="1" dirty="0">
                <a:latin typeface="Calisto MT" panose="02040603050505030304" pitchFamily="18" charset="0"/>
              </a:rPr>
              <a:t>). 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b="1" dirty="0">
                <a:latin typeface="Calisto MT" panose="02040603050505030304" pitchFamily="18" charset="0"/>
              </a:rPr>
              <a:t>Include major components, modules, inputs, processing stages, and outputs. 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b="1" dirty="0">
                <a:latin typeface="Calisto MT" panose="02040603050505030304" pitchFamily="18" charset="0"/>
              </a:rPr>
              <a:t>Clearly indicate the data flow and interconnections between components. 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b="1" dirty="0">
                <a:latin typeface="Calisto MT" panose="02040603050505030304" pitchFamily="18" charset="0"/>
              </a:rPr>
              <a:t>Mention the key technologies, algorithms, or models used. </a:t>
            </a:r>
          </a:p>
          <a:p>
            <a:pPr marL="457200" lvl="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1600" b="1" dirty="0">
                <a:latin typeface="Calisto MT" panose="02040603050505030304" pitchFamily="18" charset="0"/>
              </a:rPr>
              <a:t>Ensure the architecture is logical, clear, and aligned with the project objectives.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In the case of a figure, a caption must be included at the bottom. Multiple images in a single figure must be labeled as (a)..., (b)..., etc. (</a:t>
            </a:r>
            <a:r>
              <a:rPr lang="en-US" sz="16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If required</a:t>
            </a:r>
            <a:r>
              <a:rPr lang="en-US" sz="16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D88F9-79B5-CB9F-9F1A-C474A415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2DE845-EFF4-547A-9C08-70E0BEA55228}"/>
              </a:ext>
            </a:extLst>
          </p:cNvPr>
          <p:cNvSpPr txBox="1"/>
          <p:nvPr/>
        </p:nvSpPr>
        <p:spPr>
          <a:xfrm>
            <a:off x="273378" y="3483297"/>
            <a:ext cx="325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Proposed System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72290-4165-00E8-F7FA-36C2C72C4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03" y="3837094"/>
            <a:ext cx="7579150" cy="26769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D92B58-CE67-EADF-CD79-2A36AAD48082}"/>
              </a:ext>
            </a:extLst>
          </p:cNvPr>
          <p:cNvSpPr txBox="1"/>
          <p:nvPr/>
        </p:nvSpPr>
        <p:spPr>
          <a:xfrm>
            <a:off x="2593843" y="6450960"/>
            <a:ext cx="325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Calisto MT" panose="02040603050505030304" pitchFamily="18" charset="0"/>
              </a:rPr>
              <a:t>Figure No. Write the Caption</a:t>
            </a:r>
          </a:p>
        </p:txBody>
      </p:sp>
    </p:spTree>
    <p:extLst>
      <p:ext uri="{BB962C8B-B14F-4D97-AF65-F5344CB8AC3E}">
        <p14:creationId xmlns:p14="http://schemas.microsoft.com/office/powerpoint/2010/main" val="1174827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-49654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17.2. Different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37" y="697582"/>
            <a:ext cx="8314441" cy="5740925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Module 1 Name: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Calisto MT" panose="02040603050505030304" pitchFamily="18" charset="0"/>
              </a:rPr>
              <a:t>1.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Calisto MT" panose="02040603050505030304" pitchFamily="18" charset="0"/>
              </a:rPr>
              <a:t>2.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Module 2 Name: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Calisto MT" panose="02040603050505030304" pitchFamily="18" charset="0"/>
              </a:rPr>
              <a:t>1.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Calisto MT" panose="02040603050505030304" pitchFamily="18" charset="0"/>
              </a:rPr>
              <a:t>2.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Module 3 Name: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Calisto MT" panose="02040603050505030304" pitchFamily="18" charset="0"/>
              </a:rPr>
              <a:t>1.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Calisto MT" panose="02040603050505030304" pitchFamily="18" charset="0"/>
              </a:rPr>
              <a:t>2.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Module 4 Name: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Calisto MT" panose="02040603050505030304" pitchFamily="18" charset="0"/>
              </a:rPr>
              <a:t>1.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latin typeface="Calisto MT" panose="02040603050505030304" pitchFamily="18" charset="0"/>
              </a:rPr>
              <a:t>2.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Describe the functionality of modules in two to three lines.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252525"/>
                </a:solidFill>
                <a:latin typeface="Calisto MT" panose="02040603050505030304" pitchFamily="18" charset="0"/>
              </a:rPr>
              <a:t>M</a:t>
            </a:r>
            <a:r>
              <a:rPr lang="en-US" sz="22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ust be numbered. Neither make your texts bold nor italicize them.</a:t>
            </a:r>
            <a:r>
              <a:rPr lang="en-US" sz="2200" b="1" dirty="0">
                <a:latin typeface="Calisto MT" panose="02040603050505030304" pitchFamily="18" charset="0"/>
              </a:rPr>
              <a:t> 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243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17.3. Proposed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37" y="599616"/>
            <a:ext cx="8314441" cy="5658767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The steps of the proposed model resemble a pipeline of sequential and progressive steps, where each step builds on the input provided by a prior one and transforms it into information that is suitable for the next step of processing. </a:t>
            </a:r>
            <a:r>
              <a:rPr lang="en-IN" sz="1800" b="1" dirty="0">
                <a:latin typeface="Calisto MT" panose="02040603050505030304" pitchFamily="18" charset="0"/>
              </a:rPr>
              <a:t>(</a:t>
            </a:r>
            <a:r>
              <a:rPr lang="en-IN" sz="1800" b="1" i="1" dirty="0">
                <a:solidFill>
                  <a:srgbClr val="FF0000"/>
                </a:solidFill>
                <a:latin typeface="Calisto MT" panose="02040603050505030304" pitchFamily="18" charset="0"/>
              </a:rPr>
              <a:t>No AI generated Image(s)</a:t>
            </a:r>
            <a:r>
              <a:rPr lang="en-IN" sz="1800" b="1" dirty="0">
                <a:latin typeface="Calisto MT" panose="02040603050505030304" pitchFamily="18" charset="0"/>
              </a:rPr>
              <a:t>)</a:t>
            </a:r>
            <a:endParaRPr lang="en-US" sz="1800" b="1" dirty="0">
              <a:solidFill>
                <a:srgbClr val="252525"/>
              </a:solidFill>
              <a:effectLst/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It should not be too generic but specific to your work.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800" b="1" dirty="0">
                <a:latin typeface="Calisto MT" panose="02040603050505030304" pitchFamily="18" charset="0"/>
              </a:rPr>
              <a:t>Figure number and </a:t>
            </a: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caption must be included at the bottom. Do not describe the figure in PPT. Use </a:t>
            </a:r>
            <a:r>
              <a:rPr lang="en-US" sz="1800" b="1" i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draw.io </a:t>
            </a: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to plot your proposed model block diagram or architecture.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In the case of deep learning models, you can use the tools for plotting different network architectures. </a:t>
            </a: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  <a:hlinkClick r:id="rId2"/>
              </a:rPr>
              <a:t>https://github.com/ashishpatel26/Tools-to-Design-or-Visualize-Architecture-of-Neural-Network</a:t>
            </a:r>
            <a:r>
              <a:rPr lang="en-US" sz="18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 </a:t>
            </a:r>
            <a:endParaRPr lang="en-US" sz="18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6AEF6-BF9B-A8D6-244A-4C5DD09C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000" y="5088737"/>
            <a:ext cx="4932000" cy="14501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2A02BF-4E9B-5CB7-1378-7523E50B58C5}"/>
              </a:ext>
            </a:extLst>
          </p:cNvPr>
          <p:cNvSpPr txBox="1"/>
          <p:nvPr/>
        </p:nvSpPr>
        <p:spPr>
          <a:xfrm>
            <a:off x="2568802" y="4623541"/>
            <a:ext cx="383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Proposed model architecture example</a:t>
            </a:r>
          </a:p>
        </p:txBody>
      </p:sp>
    </p:spTree>
    <p:extLst>
      <p:ext uri="{BB962C8B-B14F-4D97-AF65-F5344CB8AC3E}">
        <p14:creationId xmlns:p14="http://schemas.microsoft.com/office/powerpoint/2010/main" val="852333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3976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17.3. Algorithms/Pseudo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77" y="650450"/>
            <a:ext cx="3785664" cy="6334812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Write algorithms, or pseudocode with inputs and outputs.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Use proper mathematical notations to represent various mathematical operations.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An algorithm or pseudocode caption must be numbered and inserted at the top.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To understand pseudo-code conventions, use this link: </a:t>
            </a:r>
            <a:r>
              <a:rPr lang="en-US" sz="2000" b="1" dirty="0">
                <a:solidFill>
                  <a:srgbClr val="252525"/>
                </a:solidFill>
                <a:latin typeface="Calisto MT" panose="02040603050505030304" pitchFamily="18" charset="0"/>
                <a:hlinkClick r:id="rId2"/>
              </a:rPr>
              <a:t>https://onlinelibrary.wiley.com/doi/pdf/10.1002/0470029757.app1</a:t>
            </a:r>
            <a:r>
              <a:rPr lang="en-US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52525"/>
                </a:solidFill>
                <a:latin typeface="Calisto MT" panose="02040603050505030304" pitchFamily="18" charset="0"/>
              </a:rPr>
              <a:t> </a:t>
            </a:r>
            <a:endParaRPr lang="en-US" sz="24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1800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i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9124BB-A430-3F34-6477-FE4E95B50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340" y="1843283"/>
            <a:ext cx="4992527" cy="38473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9FFFFC-0A71-CFE8-78FE-E4D2BCB41A65}"/>
              </a:ext>
            </a:extLst>
          </p:cNvPr>
          <p:cNvSpPr txBox="1"/>
          <p:nvPr/>
        </p:nvSpPr>
        <p:spPr>
          <a:xfrm>
            <a:off x="4572000" y="1443173"/>
            <a:ext cx="3943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latin typeface="Calisto MT" panose="02040603050505030304" pitchFamily="18" charset="0"/>
              </a:rPr>
              <a:t>Pseudocode example</a:t>
            </a:r>
          </a:p>
        </p:txBody>
      </p:sp>
    </p:spTree>
    <p:extLst>
      <p:ext uri="{BB962C8B-B14F-4D97-AF65-F5344CB8AC3E}">
        <p14:creationId xmlns:p14="http://schemas.microsoft.com/office/powerpoint/2010/main" val="3451611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18.1. 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989813"/>
            <a:ext cx="8006303" cy="5748157"/>
          </a:xfrm>
        </p:spPr>
        <p:txBody>
          <a:bodyPr numCol="1"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Describe the experimental environment and tools/software used.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Specify the hardware and computational resources required.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Highlight the preprocessing steps, parameters, and experimental conditions.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Present the evaluation metrics and validation strategy adopted.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Include baseline models or comparative methods, where applicable.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Present the data in multiple tables with proper captions.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Calisto MT" panose="02040603050505030304" pitchFamily="18" charset="0"/>
              </a:rPr>
              <a:t>…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effectLst/>
                <a:latin typeface="Calisto MT" panose="02040603050505030304" pitchFamily="18" charset="0"/>
              </a:rPr>
              <a:t>Must be numbered, and do not italicize your text.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Multiple slides may be used to present the Information clearly</a:t>
            </a:r>
            <a:r>
              <a:rPr lang="en-US" sz="2000" b="1" dirty="0">
                <a:latin typeface="Calisto MT" panose="02040603050505030304" pitchFamily="18" charset="0"/>
              </a:rPr>
              <a:t>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29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27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963D-20FF-89A3-626A-7C90795E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BB23-4EC6-964D-994F-D83B5C1A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18.2. Results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F799C-6FD4-A88F-98B0-7C07482F0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6" y="955250"/>
            <a:ext cx="8006303" cy="5748157"/>
          </a:xfrm>
        </p:spPr>
        <p:txBody>
          <a:bodyPr numCol="1">
            <a:normAutofit fontScale="92500" lnSpcReduction="20000"/>
          </a:bodyPr>
          <a:lstStyle/>
          <a:p>
            <a:pPr marL="457200" lvl="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Present the input and corresponding output generated by the system to demonstrate its performance and effectiveness. </a:t>
            </a:r>
          </a:p>
          <a:p>
            <a:pPr marL="457200" lvl="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Use tables for numerical or textual data, and images in case of image/ video data with proper captions.</a:t>
            </a:r>
          </a:p>
          <a:p>
            <a:pPr marL="457200" lvl="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Present the key experimental results using appropriate graphs and charts. </a:t>
            </a:r>
          </a:p>
          <a:p>
            <a:pPr marL="457200" lvl="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Include results tables for quantitative comparison of performance. </a:t>
            </a:r>
          </a:p>
          <a:p>
            <a:pPr marL="457200" lvl="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Use graphs to clearly show trends, patterns, and performance variations.</a:t>
            </a:r>
          </a:p>
          <a:p>
            <a:pPr marL="457200" lvl="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Highlight important results using accuracy, precision, recall, F1-score, RMSE, MAE, or other relevant metrics on different datasets with different partitions.</a:t>
            </a:r>
          </a:p>
          <a:p>
            <a:pPr marL="457200" lvl="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Clearly highlight the best-performing results and key findings.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Calisto MT" panose="02040603050505030304" pitchFamily="18" charset="0"/>
              </a:rPr>
              <a:t>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Images, tables and Charts m</a:t>
            </a:r>
            <a:r>
              <a:rPr lang="en-US" sz="2000" b="1" dirty="0">
                <a:effectLst/>
                <a:latin typeface="Calisto MT" panose="02040603050505030304" pitchFamily="18" charset="0"/>
              </a:rPr>
              <a:t>ust be </a:t>
            </a:r>
            <a:r>
              <a:rPr lang="en-US" sz="2000" b="1" dirty="0">
                <a:latin typeface="Calisto MT" panose="02040603050505030304" pitchFamily="18" charset="0"/>
              </a:rPr>
              <a:t>captioned with correct Nos.</a:t>
            </a:r>
            <a:r>
              <a:rPr lang="en-US" sz="2000" b="1" dirty="0">
                <a:effectLst/>
                <a:latin typeface="Calisto MT" panose="02040603050505030304" pitchFamily="18" charset="0"/>
              </a:rPr>
              <a:t>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Figure captions: Bottom; Table captions: Top.</a:t>
            </a:r>
            <a:endParaRPr lang="en-US" sz="2000" b="1" i="1" dirty="0"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3830B-FD85-D774-8D77-0970594A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30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58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1BA5-B76C-3560-28B4-7EDD1266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B1CC2-B3BF-31D2-D2AA-441536C5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18.2. Results and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E3988-0402-0966-3916-D73212C42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685797"/>
            <a:ext cx="8006303" cy="6035679"/>
          </a:xfrm>
        </p:spPr>
        <p:txBody>
          <a:bodyPr numCol="1">
            <a:normAutofit/>
          </a:bodyPr>
          <a:lstStyle/>
          <a:p>
            <a:pPr marL="0" lvl="0" indent="0" algn="ctr">
              <a:lnSpc>
                <a:spcPct val="110000"/>
              </a:lnSpc>
              <a:buNone/>
            </a:pPr>
            <a:r>
              <a:rPr lang="en-US" sz="20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(Samples)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ECB16-FF64-C4B2-FA25-FA7FA202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31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A69C81-9BE8-04EA-E7B5-D3CDE55CB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23" y="1337968"/>
            <a:ext cx="7923949" cy="452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891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6D902-79BF-8D1D-35BE-8DCF0FBC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7319E-0AD3-8955-5F56-BF0801F3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18.2. Results and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574ED-0B35-1350-D3CA-65779032A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685797"/>
            <a:ext cx="8006303" cy="6035679"/>
          </a:xfrm>
        </p:spPr>
        <p:txBody>
          <a:bodyPr numCol="1">
            <a:normAutofit/>
          </a:bodyPr>
          <a:lstStyle/>
          <a:p>
            <a:pPr marL="0" lvl="0" indent="0" algn="ctr">
              <a:lnSpc>
                <a:spcPct val="110000"/>
              </a:lnSpc>
              <a:buNone/>
            </a:pPr>
            <a:r>
              <a:rPr lang="en-US" sz="20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(Samples)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DDFEF-5AE0-0AA1-4681-D280FF44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32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8883B9-10D5-FECE-8617-8E6A2C9BE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59" y="1235069"/>
            <a:ext cx="7484651" cy="23177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917124-DE6A-4C39-2C23-202C6BF7E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52" y="3703635"/>
            <a:ext cx="7394158" cy="226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39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2482-1A61-411A-F196-C424E811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DD28-E529-41BD-8E5B-0CF15DE9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136524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18.2. Results and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8EE99-CD38-1433-167C-BC21A7D23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685797"/>
            <a:ext cx="8006303" cy="6035679"/>
          </a:xfrm>
        </p:spPr>
        <p:txBody>
          <a:bodyPr numCol="1">
            <a:normAutofit/>
          </a:bodyPr>
          <a:lstStyle/>
          <a:p>
            <a:pPr marL="0" lvl="0" indent="0" algn="ctr">
              <a:lnSpc>
                <a:spcPct val="110000"/>
              </a:lnSpc>
              <a:buNone/>
            </a:pPr>
            <a:r>
              <a:rPr lang="en-US" sz="20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(Samples)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FEBBE-3D91-3A36-5404-648F585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66FDE-1A68-BFB8-0184-CA81A3D95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022" y="1053946"/>
            <a:ext cx="5286806" cy="56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14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07AB-A2E5-2E8F-3A5A-6D1CC51C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1E8B-BCDB-C6CB-F661-CE013227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09" y="103690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18.3. Comparison with Previous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4B72A-C8CE-40CA-3374-072A59427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509" y="614726"/>
            <a:ext cx="8225378" cy="5748157"/>
          </a:xfrm>
        </p:spPr>
        <p:txBody>
          <a:bodyPr numCol="1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latin typeface="Calisto MT" panose="02040603050505030304" pitchFamily="18" charset="0"/>
              </a:rPr>
              <a:t>Table No. : Comparison with Previous Implementation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000" b="1" i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CCE2A-DC09-7B4C-6CA5-048A47A2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34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5ABACB-38D8-CC0A-4316-302973CD1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40991"/>
              </p:ext>
            </p:extLst>
          </p:nvPr>
        </p:nvGraphicFramePr>
        <p:xfrm>
          <a:off x="519113" y="1011556"/>
          <a:ext cx="8096250" cy="570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352">
                  <a:extLst>
                    <a:ext uri="{9D8B030D-6E8A-4147-A177-3AD203B41FA5}">
                      <a16:colId xmlns:a16="http://schemas.microsoft.com/office/drawing/2014/main" val="796014517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810711668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41471218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827684620"/>
                    </a:ext>
                  </a:extLst>
                </a:gridCol>
                <a:gridCol w="1654698">
                  <a:extLst>
                    <a:ext uri="{9D8B030D-6E8A-4147-A177-3AD203B41FA5}">
                      <a16:colId xmlns:a16="http://schemas.microsoft.com/office/drawing/2014/main" val="20935956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Literature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Algorithms/ Models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Dataset(s)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Performance Metrics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242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Wang et al.  (2022) [8]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Algorithm/ Model Name </a:t>
                      </a:r>
                      <a:r>
                        <a:rPr lang="en-IN" sz="1200" dirty="0">
                          <a:latin typeface="Calisto MT" panose="02040603050505030304" pitchFamily="18" charset="0"/>
                        </a:rPr>
                        <a:t>- </a:t>
                      </a:r>
                      <a:r>
                        <a:rPr lang="en-IN" sz="1200" i="1" dirty="0">
                          <a:latin typeface="Calisto MT" panose="02040603050505030304" pitchFamily="18" charset="0"/>
                        </a:rPr>
                        <a:t>Purpose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Algorithm/ Model Name </a:t>
                      </a:r>
                      <a:r>
                        <a:rPr lang="en-IN" sz="1200" dirty="0">
                          <a:latin typeface="Calisto MT" panose="02040603050505030304" pitchFamily="18" charset="0"/>
                        </a:rPr>
                        <a:t>– </a:t>
                      </a:r>
                      <a:r>
                        <a:rPr lang="en-IN" sz="1200" i="1" dirty="0">
                          <a:latin typeface="Calisto MT" panose="02040603050505030304" pitchFamily="18" charset="0"/>
                        </a:rPr>
                        <a:t>Purpose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Dataset 1 Name</a:t>
                      </a:r>
                    </a:p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Dataset 2 Name</a:t>
                      </a:r>
                    </a:p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Dataset 1</a:t>
                      </a:r>
                    </a:p>
                    <a:p>
                      <a:pPr algn="l"/>
                      <a:r>
                        <a:rPr lang="en-IN" sz="1200" dirty="0">
                          <a:latin typeface="Calisto MT" panose="02040603050505030304" pitchFamily="18" charset="0"/>
                        </a:rPr>
                        <a:t>Accuracy: ??</a:t>
                      </a:r>
                    </a:p>
                    <a:p>
                      <a:pPr algn="l"/>
                      <a:r>
                        <a:rPr lang="en-IN" sz="1200" dirty="0">
                          <a:latin typeface="Calisto MT" panose="02040603050505030304" pitchFamily="18" charset="0"/>
                        </a:rPr>
                        <a:t>Precision: ??</a:t>
                      </a:r>
                    </a:p>
                    <a:p>
                      <a:pPr algn="l"/>
                      <a:r>
                        <a:rPr lang="en-IN" sz="1200" dirty="0" err="1">
                          <a:latin typeface="Calisto MT" panose="02040603050505030304" pitchFamily="18" charset="0"/>
                        </a:rPr>
                        <a:t>IoU</a:t>
                      </a:r>
                      <a:r>
                        <a:rPr lang="en-IN" sz="1200" dirty="0">
                          <a:latin typeface="Calisto MT" panose="02040603050505030304" pitchFamily="18" charset="0"/>
                        </a:rPr>
                        <a:t>: ??</a:t>
                      </a:r>
                    </a:p>
                    <a:p>
                      <a:pPr algn="l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Dataset 2</a:t>
                      </a:r>
                    </a:p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187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715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82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814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47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199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19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03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Our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Algorithm/ Model Name </a:t>
                      </a:r>
                      <a:r>
                        <a:rPr lang="en-IN" sz="1200" dirty="0">
                          <a:latin typeface="Calisto MT" panose="02040603050505030304" pitchFamily="18" charset="0"/>
                        </a:rPr>
                        <a:t>- </a:t>
                      </a:r>
                      <a:r>
                        <a:rPr lang="en-IN" sz="1200" i="1" dirty="0">
                          <a:latin typeface="Calisto MT" panose="02040603050505030304" pitchFamily="18" charset="0"/>
                        </a:rPr>
                        <a:t>Purpose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Algorithm/ Model Name </a:t>
                      </a:r>
                      <a:r>
                        <a:rPr lang="en-IN" sz="1200" dirty="0">
                          <a:latin typeface="Calisto MT" panose="02040603050505030304" pitchFamily="18" charset="0"/>
                        </a:rPr>
                        <a:t>– </a:t>
                      </a:r>
                      <a:r>
                        <a:rPr lang="en-IN" sz="1200" i="1" dirty="0">
                          <a:latin typeface="Calisto MT" panose="02040603050505030304" pitchFamily="18" charset="0"/>
                        </a:rPr>
                        <a:t>Purpose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Dataset 1 Name</a:t>
                      </a:r>
                    </a:p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Dataset 2 Name</a:t>
                      </a:r>
                    </a:p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  <a:p>
                      <a:pPr algn="ctr"/>
                      <a:endParaRPr lang="en-IN" sz="1200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Dataset 1</a:t>
                      </a:r>
                    </a:p>
                    <a:p>
                      <a:pPr algn="l"/>
                      <a:r>
                        <a:rPr lang="en-IN" sz="1200" dirty="0">
                          <a:latin typeface="Calisto MT" panose="02040603050505030304" pitchFamily="18" charset="0"/>
                        </a:rPr>
                        <a:t>Accuracy: ??</a:t>
                      </a:r>
                    </a:p>
                    <a:p>
                      <a:pPr algn="l"/>
                      <a:r>
                        <a:rPr lang="en-IN" sz="1200" dirty="0">
                          <a:latin typeface="Calisto MT" panose="02040603050505030304" pitchFamily="18" charset="0"/>
                        </a:rPr>
                        <a:t>Precision: ??</a:t>
                      </a:r>
                    </a:p>
                    <a:p>
                      <a:pPr algn="l"/>
                      <a:r>
                        <a:rPr lang="en-IN" sz="1200" dirty="0" err="1">
                          <a:latin typeface="Calisto MT" panose="02040603050505030304" pitchFamily="18" charset="0"/>
                        </a:rPr>
                        <a:t>IoU</a:t>
                      </a:r>
                      <a:r>
                        <a:rPr lang="en-IN" sz="1200" dirty="0">
                          <a:latin typeface="Calisto MT" panose="02040603050505030304" pitchFamily="18" charset="0"/>
                        </a:rPr>
                        <a:t>: ??</a:t>
                      </a:r>
                    </a:p>
                    <a:p>
                      <a:pPr algn="l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  <a:p>
                      <a:pPr algn="ctr"/>
                      <a:r>
                        <a:rPr lang="en-IN" sz="1200" b="1" dirty="0">
                          <a:latin typeface="Calisto MT" panose="02040603050505030304" pitchFamily="18" charset="0"/>
                        </a:rPr>
                        <a:t>Dataset 2</a:t>
                      </a:r>
                    </a:p>
                    <a:p>
                      <a:pPr algn="ctr"/>
                      <a:r>
                        <a:rPr lang="en-IN" sz="1200" dirty="0">
                          <a:latin typeface="Calisto MT" panose="0204060305050503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627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147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3FBED-F78E-E0B4-D926-A6C6A5EC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C3D37-4606-D134-BF01-FBEDF0F5F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18.4. Proof of Concept [</a:t>
            </a:r>
            <a:r>
              <a:rPr lang="en-US" sz="4000" b="1" i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If Any …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06AE4-B5B9-93A8-4EEE-9258E621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989813"/>
            <a:ext cx="8006303" cy="5296687"/>
          </a:xfrm>
        </p:spPr>
        <p:txBody>
          <a:bodyPr numCol="1">
            <a:norm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Show prototype screenshots, system interface, or working demonstration.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Must be captioned, annotated, and labelled thoroughly with nos.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Present sample inputs, outputs, and key performance results.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Provide 2–3 practical use cases demonstrating real-world applicability.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b="1" dirty="0">
                <a:latin typeface="Calisto MT" panose="02040603050505030304" pitchFamily="18" charset="0"/>
              </a:rPr>
              <a:t>Mention the current implementation status and scope for further enhancement.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Calisto MT" panose="02040603050505030304" pitchFamily="18" charset="0"/>
              </a:rPr>
              <a:t>…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effectLst/>
                <a:latin typeface="Calisto MT" panose="02040603050505030304" pitchFamily="18" charset="0"/>
              </a:rPr>
              <a:t>Must be numbered, and do not italicize your text.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latin typeface="Calisto MT" panose="02040603050505030304" pitchFamily="18" charset="0"/>
              </a:rPr>
              <a:t>All the points must be covered in multiple slides.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5DF95-D43C-B287-2818-93A7BAAD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35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58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D91B-89E5-189E-ACA5-53EA4424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BCA5-3923-5190-F81B-0511CF7E8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1" y="280383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19. Project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32742-19BD-2920-BFAF-8911E1661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1" y="989813"/>
            <a:ext cx="8458200" cy="5748157"/>
          </a:xfrm>
        </p:spPr>
        <p:txBody>
          <a:bodyPr numCol="1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Calisto MT" panose="02040603050505030304" pitchFamily="18" charset="0"/>
              </a:rPr>
              <a:t>EPICS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Title: </a:t>
            </a:r>
            <a:r>
              <a:rPr lang="en-US" sz="1600" dirty="0">
                <a:latin typeface="Calisto MT" panose="02040603050505030304" pitchFamily="18" charset="0"/>
              </a:rPr>
              <a:t>??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Types: </a:t>
            </a:r>
            <a:r>
              <a:rPr lang="en-US" sz="1600" dirty="0">
                <a:latin typeface="Calisto MT" panose="02040603050505030304" pitchFamily="18" charset="0"/>
              </a:rPr>
              <a:t>Journal/Book Chapter/ Conference/ Patent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Name of Journal/Book Chapter/ Conference: </a:t>
            </a:r>
            <a:r>
              <a:rPr lang="en-US" sz="1600" dirty="0">
                <a:latin typeface="Calisto MT" panose="02040603050505030304" pitchFamily="18" charset="0"/>
              </a:rPr>
              <a:t>??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Status: Submitted/ Accepted/ Published </a:t>
            </a:r>
            <a:r>
              <a:rPr lang="en-US" sz="1600" dirty="0">
                <a:latin typeface="Calisto MT" panose="02040603050505030304" pitchFamily="18" charset="0"/>
              </a:rPr>
              <a:t>(in case of Journal/Book Chapter/ Conference)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              Filed/ Published/ Granted </a:t>
            </a:r>
            <a:r>
              <a:rPr lang="en-US" sz="1600" dirty="0">
                <a:latin typeface="Calisto MT" panose="02040603050505030304" pitchFamily="18" charset="0"/>
              </a:rPr>
              <a:t>(In case of Patent)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DOI: (</a:t>
            </a:r>
            <a:r>
              <a:rPr lang="en-US" sz="1600" dirty="0">
                <a:latin typeface="Calisto MT" panose="02040603050505030304" pitchFamily="18" charset="0"/>
              </a:rPr>
              <a:t>In case of published</a:t>
            </a:r>
            <a:r>
              <a:rPr lang="en-US" sz="1600" b="1" dirty="0">
                <a:latin typeface="Calisto MT" panose="02040603050505030304" pitchFamily="18" charset="0"/>
              </a:rPr>
              <a:t> </a:t>
            </a:r>
            <a:r>
              <a:rPr lang="en-US" sz="1600" dirty="0">
                <a:latin typeface="Calisto MT" panose="02040603050505030304" pitchFamily="18" charset="0"/>
              </a:rPr>
              <a:t>Journal/Book Chapter/ Conference)</a:t>
            </a:r>
            <a:endParaRPr lang="en-US" sz="16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Ref. No.: </a:t>
            </a:r>
            <a:r>
              <a:rPr lang="en-US" sz="1600" dirty="0">
                <a:latin typeface="Calisto MT" panose="02040603050505030304" pitchFamily="18" charset="0"/>
              </a:rPr>
              <a:t>(In case of Patent)</a:t>
            </a:r>
            <a:endParaRPr lang="en-US" sz="1600" dirty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Calisto MT" panose="02040603050505030304" pitchFamily="18" charset="0"/>
              </a:rPr>
              <a:t>Mini Project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Title: </a:t>
            </a:r>
            <a:r>
              <a:rPr lang="en-US" sz="1600" dirty="0">
                <a:latin typeface="Calisto MT" panose="02040603050505030304" pitchFamily="18" charset="0"/>
              </a:rPr>
              <a:t>??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Types: </a:t>
            </a:r>
            <a:r>
              <a:rPr lang="en-US" sz="1600" dirty="0">
                <a:latin typeface="Calisto MT" panose="02040603050505030304" pitchFamily="18" charset="0"/>
              </a:rPr>
              <a:t>Journal/Book Chapter/ Conference/ Patent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Name of Journal/Book Chapter/ Conference: </a:t>
            </a:r>
            <a:r>
              <a:rPr lang="en-US" sz="1600" dirty="0">
                <a:latin typeface="Calisto MT" panose="02040603050505030304" pitchFamily="18" charset="0"/>
              </a:rPr>
              <a:t>??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Status: Submitted/ Accepted/ Published </a:t>
            </a:r>
            <a:r>
              <a:rPr lang="en-US" sz="1600" dirty="0">
                <a:latin typeface="Calisto MT" panose="02040603050505030304" pitchFamily="18" charset="0"/>
              </a:rPr>
              <a:t>(in case of Journal/Book Chapter/ Conference)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              Filed/ Published/ Granted </a:t>
            </a:r>
            <a:r>
              <a:rPr lang="en-US" sz="1600" dirty="0">
                <a:latin typeface="Calisto MT" panose="02040603050505030304" pitchFamily="18" charset="0"/>
              </a:rPr>
              <a:t>(In case of Patent)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DOI: (</a:t>
            </a:r>
            <a:r>
              <a:rPr lang="en-US" sz="1600" dirty="0">
                <a:latin typeface="Calisto MT" panose="02040603050505030304" pitchFamily="18" charset="0"/>
              </a:rPr>
              <a:t>In case of published</a:t>
            </a:r>
            <a:r>
              <a:rPr lang="en-US" sz="1600" b="1" dirty="0">
                <a:latin typeface="Calisto MT" panose="02040603050505030304" pitchFamily="18" charset="0"/>
              </a:rPr>
              <a:t> </a:t>
            </a:r>
            <a:r>
              <a:rPr lang="en-US" sz="1600" dirty="0">
                <a:latin typeface="Calisto MT" panose="02040603050505030304" pitchFamily="18" charset="0"/>
              </a:rPr>
              <a:t>Journal/Book Chapter/ Conference)</a:t>
            </a:r>
            <a:endParaRPr lang="en-US" sz="16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Calisto MT" panose="02040603050505030304" pitchFamily="18" charset="0"/>
              </a:rPr>
              <a:t>Ref. No.: </a:t>
            </a:r>
            <a:r>
              <a:rPr lang="en-US" sz="1600" dirty="0">
                <a:latin typeface="Calisto MT" panose="02040603050505030304" pitchFamily="18" charset="0"/>
              </a:rPr>
              <a:t>(In case of Patent)</a:t>
            </a:r>
            <a:endParaRPr lang="en-US" sz="1600" dirty="0">
              <a:solidFill>
                <a:srgbClr val="FF0000"/>
              </a:solidFill>
              <a:latin typeface="Calisto MT" panose="0204060305050503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4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26D9F-A8E0-8DF9-E86E-2E459479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36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07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0335-CE52-15B2-B23A-61DE5AED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A369-88B7-8BAE-FCEC-AD8E807C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20. 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2D841-5EAC-964D-B444-B7E25133E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989813"/>
            <a:ext cx="8006303" cy="5748157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sto MT" panose="02040603050505030304" pitchFamily="18" charset="0"/>
              </a:rPr>
              <a:t>Here, we have discussed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sto MT" panose="02040603050505030304" pitchFamily="18" charset="0"/>
              </a:rPr>
              <a:t>1. The real-world problem that motivate us to carry out this project.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sto MT" panose="02040603050505030304" pitchFamily="18" charset="0"/>
              </a:rPr>
              <a:t>2.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sto MT" panose="02040603050505030304" pitchFamily="18" charset="0"/>
              </a:rPr>
              <a:t>3.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alisto MT" panose="02040603050505030304" pitchFamily="18" charset="0"/>
              </a:rPr>
              <a:t>4.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Calisto MT" panose="02040603050505030304" pitchFamily="18" charset="0"/>
              </a:rPr>
              <a:t>…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Must be numbered, and do not italicize your text.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solidFill>
                  <a:srgbClr val="252525"/>
                </a:solidFill>
                <a:effectLst/>
                <a:latin typeface="Calisto MT" panose="02040603050505030304" pitchFamily="18" charset="0"/>
              </a:rPr>
              <a:t>Try to encapsulate the conclusion of your presentation within 6 to 7 points.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sz="2000" b="1" dirty="0">
                <a:solidFill>
                  <a:srgbClr val="252525"/>
                </a:solidFill>
                <a:latin typeface="Calisto MT" panose="02040603050505030304" pitchFamily="18" charset="0"/>
              </a:rPr>
              <a:t>Try to encapsulate the Future work within 1 to 2 points</a:t>
            </a:r>
            <a:endParaRPr lang="en-US" sz="2000" b="1" dirty="0">
              <a:solidFill>
                <a:srgbClr val="C00000"/>
              </a:solidFill>
              <a:latin typeface="Calisto MT" panose="02040603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345BD-7715-5CB3-45A7-6CEB49B2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4751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166" y="15537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790756"/>
            <a:ext cx="8006303" cy="5748157"/>
          </a:xfrm>
        </p:spPr>
        <p:txBody>
          <a:bodyPr numCol="1"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800" b="0" i="0" dirty="0">
                <a:solidFill>
                  <a:srgbClr val="222222"/>
                </a:solidFill>
                <a:effectLst/>
                <a:latin typeface="Calisto MT" panose="02040603050505030304" pitchFamily="18" charset="0"/>
              </a:rPr>
              <a:t>Vimala, C., &amp; Priya, P. A. (2019). Artificial neural network-based wavelet transform technique for image quality enhancement. 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Calisto MT" panose="02040603050505030304" pitchFamily="18" charset="0"/>
              </a:rPr>
              <a:t>Computers &amp; Electrical Engineering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Calisto MT" panose="02040603050505030304" pitchFamily="18" charset="0"/>
              </a:rPr>
              <a:t>, 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Calisto MT" panose="02040603050505030304" pitchFamily="18" charset="0"/>
              </a:rPr>
              <a:t>76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Calisto MT" panose="02040603050505030304" pitchFamily="18" charset="0"/>
              </a:rPr>
              <a:t>, 258-267.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22222"/>
                </a:solidFill>
                <a:latin typeface="Calisto MT" panose="02040603050505030304" pitchFamily="18" charset="0"/>
              </a:rPr>
              <a:t>…</a:t>
            </a:r>
            <a:endParaRPr lang="en-US" sz="1800" b="1" dirty="0">
              <a:latin typeface="Calisto MT" panose="0204060305050503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C00000"/>
                </a:solidFill>
                <a:latin typeface="Calisto MT" panose="02040603050505030304" pitchFamily="18" charset="0"/>
              </a:rPr>
              <a:t>Instructions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>
                <a:latin typeface="Calisto MT" panose="02040603050505030304" pitchFamily="18" charset="0"/>
              </a:rPr>
              <a:t>The same order must be maintained throughout the PPT.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>
                <a:latin typeface="Calisto MT" panose="02040603050505030304" pitchFamily="18" charset="0"/>
              </a:rPr>
              <a:t>In the case of online materials, unpublished work, or online videos, use the following URL to generate APA references.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alisto MT" panose="02040603050505030304" pitchFamily="18" charset="0"/>
              </a:rPr>
              <a:t>      </a:t>
            </a:r>
            <a:r>
              <a:rPr lang="en-US" sz="1800" dirty="0">
                <a:latin typeface="Calisto MT" panose="02040603050505030304" pitchFamily="18" charset="0"/>
                <a:hlinkClick r:id="rId2"/>
              </a:rPr>
              <a:t>https://www.scribbr.com/citation/generator/apa/</a:t>
            </a:r>
            <a:r>
              <a:rPr lang="en-US" sz="1800" dirty="0">
                <a:latin typeface="Calisto MT" panose="02040603050505030304" pitchFamily="18" charset="0"/>
              </a:rPr>
              <a:t> 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b="1" dirty="0">
              <a:latin typeface="Calisto MT" panose="02040603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19CBB2-742D-EC1B-0C0A-5D133738C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31" y="4143374"/>
            <a:ext cx="7666938" cy="2443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D706-BAAD-007D-D4CC-247F422D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38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50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BE24DB-4F27-2C81-F4FF-8605FD6D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rgbClr val="002060"/>
                </a:solidFill>
                <a:latin typeface="Calisto MT" panose="02040603050505030304" pitchFamily="18" charset="0"/>
              </a:rPr>
              <a:pPr/>
              <a:t>39</a:t>
            </a:fld>
            <a:endParaRPr lang="en-US" b="1" dirty="0">
              <a:solidFill>
                <a:srgbClr val="002060"/>
              </a:solidFill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055F03-E614-3517-2DBE-3AF72CAFBA05}"/>
              </a:ext>
            </a:extLst>
          </p:cNvPr>
          <p:cNvSpPr txBox="1"/>
          <p:nvPr/>
        </p:nvSpPr>
        <p:spPr>
          <a:xfrm>
            <a:off x="782425" y="490194"/>
            <a:ext cx="7249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sto MT" panose="02040603050505030304" pitchFamily="18" charset="0"/>
              </a:rPr>
              <a:t>Insert Slide Numbers</a:t>
            </a:r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669B52A0-A956-6B3D-84E5-0FB75674F9E9}"/>
              </a:ext>
            </a:extLst>
          </p:cNvPr>
          <p:cNvSpPr/>
          <p:nvPr/>
        </p:nvSpPr>
        <p:spPr>
          <a:xfrm>
            <a:off x="565608" y="1706251"/>
            <a:ext cx="8107052" cy="2809188"/>
          </a:xfrm>
          <a:prstGeom prst="foldedCorner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742950" indent="-742950">
              <a:lnSpc>
                <a:spcPct val="2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02060"/>
                </a:solidFill>
                <a:latin typeface="Calisto MT" panose="02040603050505030304" pitchFamily="18" charset="0"/>
              </a:rPr>
              <a:t>Slide numbers are important.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b="1" dirty="0">
                <a:solidFill>
                  <a:srgbClr val="002060"/>
                </a:solidFill>
                <a:effectLst/>
                <a:latin typeface="Calisto MT" panose="02040603050505030304" pitchFamily="18" charset="0"/>
              </a:rPr>
              <a:t>It not only helps reviewers any questions but also helps you answer them.</a:t>
            </a:r>
          </a:p>
          <a:p>
            <a:endParaRPr lang="en-US" sz="2800" b="1" dirty="0">
              <a:solidFill>
                <a:srgbClr val="002060"/>
              </a:solidFill>
              <a:latin typeface="Calisto MT" panose="02040603050505030304" pitchFamily="18" charset="0"/>
            </a:endParaRPr>
          </a:p>
          <a:p>
            <a:pPr algn="ctr"/>
            <a:r>
              <a:rPr lang="en-US" sz="2800" b="1" dirty="0">
                <a:solidFill>
                  <a:srgbClr val="002060"/>
                </a:solidFill>
                <a:latin typeface="Calisto MT" panose="02040603050505030304" pitchFamily="18" charset="0"/>
              </a:rPr>
              <a:t>[Don’t include this slide to your PPT]</a:t>
            </a:r>
          </a:p>
        </p:txBody>
      </p:sp>
    </p:spTree>
    <p:extLst>
      <p:ext uri="{BB962C8B-B14F-4D97-AF65-F5344CB8AC3E}">
        <p14:creationId xmlns:p14="http://schemas.microsoft.com/office/powerpoint/2010/main" val="957646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1143</TotalTime>
  <Words>3964</Words>
  <Application>Microsoft Office PowerPoint</Application>
  <PresentationFormat>On-screen Show (4:3)</PresentationFormat>
  <Paragraphs>764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Calisto MT</vt:lpstr>
      <vt:lpstr>Cambria Math</vt:lpstr>
      <vt:lpstr>Office Theme</vt:lpstr>
      <vt:lpstr>Title of the Project</vt:lpstr>
      <vt:lpstr>Review Details</vt:lpstr>
      <vt:lpstr>Abstract</vt:lpstr>
      <vt:lpstr>Presentation Outline</vt:lpstr>
      <vt:lpstr>1. Research Domain</vt:lpstr>
      <vt:lpstr>2. SDG Categories</vt:lpstr>
      <vt:lpstr>3. Aim and Motivation</vt:lpstr>
      <vt:lpstr>4. Research Questions</vt:lpstr>
      <vt:lpstr>5. Title Justification</vt:lpstr>
      <vt:lpstr>6. Objectives</vt:lpstr>
      <vt:lpstr>7. Scope</vt:lpstr>
      <vt:lpstr>8. Timeline Chart</vt:lpstr>
      <vt:lpstr>9. Introduction</vt:lpstr>
      <vt:lpstr>10. Study on Existing Technologies  </vt:lpstr>
      <vt:lpstr>10. Study on Existing Technologies</vt:lpstr>
      <vt:lpstr>10. Study on Existing Technologies</vt:lpstr>
      <vt:lpstr>11. Gap Analysis</vt:lpstr>
      <vt:lpstr>12. SDLC Model</vt:lpstr>
      <vt:lpstr>13.1. Use Case Diagram</vt:lpstr>
      <vt:lpstr>13.2. Sequence Diagram</vt:lpstr>
      <vt:lpstr>13.3. Activity Diagram</vt:lpstr>
      <vt:lpstr>14. Functional and Non-Functional Requirements</vt:lpstr>
      <vt:lpstr>15. Data Collection [Example]</vt:lpstr>
      <vt:lpstr>16. Data Preparation</vt:lpstr>
      <vt:lpstr>17.1. Proposed System Architecture</vt:lpstr>
      <vt:lpstr>17.2. Different Modules</vt:lpstr>
      <vt:lpstr>17.3. Proposed Model</vt:lpstr>
      <vt:lpstr>17.3. Algorithms/Pseudo Codes</vt:lpstr>
      <vt:lpstr>18.1. Experimental Setup</vt:lpstr>
      <vt:lpstr>18.2. Results and Analysis</vt:lpstr>
      <vt:lpstr>18.2. Results and Analysis </vt:lpstr>
      <vt:lpstr>18.2. Results and Analysis </vt:lpstr>
      <vt:lpstr>18.2. Results and Analysis </vt:lpstr>
      <vt:lpstr>18.3. Comparison with Previous Work</vt:lpstr>
      <vt:lpstr>18.4. Proof of Concept [If Any …]</vt:lpstr>
      <vt:lpstr>19. Project Outcomes</vt:lpstr>
      <vt:lpstr>20. Conclusion &amp; Future Work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ashutosh satapathy</dc:creator>
  <cp:lastModifiedBy>ashutosh satapathy</cp:lastModifiedBy>
  <cp:revision>353</cp:revision>
  <cp:lastPrinted>2026-08-08T03:45:19Z</cp:lastPrinted>
  <dcterms:created xsi:type="dcterms:W3CDTF">2023-03-25T12:51:43Z</dcterms:created>
  <dcterms:modified xsi:type="dcterms:W3CDTF">2026-08-08T03:51:16Z</dcterms:modified>
</cp:coreProperties>
</file>